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Interactions cytokiniques régulant l’IL-17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Régulation positive (gauche) et négative (droite) — production et fonction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640080"/>
            <a:ext cx="4160520" cy="5806440"/>
          </a:xfrm>
          <a:prstGeom prst="roundRect">
            <a:avLst>
              <a:gd name="adj" fmla="val 3000"/>
            </a:avLst>
          </a:prstGeom>
          <a:solidFill>
            <a:srgbClr val="E8F7F4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3566160" cy="310896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+  RÉGULATION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A6F66"/>
                </a:solidFill>
                <a:latin typeface="Calibri"/>
              </a:rPr>
              <a:t>Inducteurs &amp; amplificateurs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avec TGF-β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IL-1β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différenciation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IL-23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pathogénicité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IL-21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induction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TNF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synergie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IL-22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amplification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60604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260604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Production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953512"/>
            <a:ext cx="3593592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TGF-β + IL-6 → RORγt / Th17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IL-1β renforce le phénotype inflammatoire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IL-23 : maintien, survie &amp; pathogénicité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IL-21 : induction indépendante d’IL-23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52628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A6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452628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0A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Fonction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4873752"/>
            <a:ext cx="359359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Synergie IL-17 + TNF (↑ TNFRII)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CUX1 &amp; IκBζ avec NF-κB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Coopération avec IL-1β et IL-22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↑ chimiokines, MMPs, CCL20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640080"/>
            <a:ext cx="4160520" cy="5806440"/>
          </a:xfrm>
          <a:prstGeom prst="roundRect">
            <a:avLst>
              <a:gd name="adj" fmla="val 3000"/>
            </a:avLst>
          </a:prstGeom>
          <a:solidFill>
            <a:srgbClr val="FCF1EC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9872" y="749808"/>
            <a:ext cx="3566160" cy="310896"/>
          </a:xfrm>
          <a:prstGeom prst="roundRect">
            <a:avLst>
              <a:gd name="adj" fmla="val 20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−  RÉGULATION NÉGATIVE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10972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84A32"/>
                </a:solidFill>
                <a:latin typeface="Calibri"/>
              </a:rPr>
              <a:t>Inhibiteurs &amp; antagonistes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STAT6–GATA3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54311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IL-13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Th2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80191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Treg / APC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IL-25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IL-17E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54311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anti–IL-17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auto-Ac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0191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TGF-β*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Treg si −IL-6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260604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1000" y="260604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Production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8" y="2953512"/>
            <a:ext cx="3593592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IL-4 : STAT6–GATA3 antagonise RORγt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IL-13 (axe Th2) freine Th17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IL-10 ↓ IL-1β / IL-6 / IL-23 des APC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IL-10 agit aussi sur les effecteurs 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52628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A84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01000" y="452628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A8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Fonction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4873752"/>
            <a:ext cx="359359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IL-25 (IL-17E) : IL-17RA + IL-17RB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Compétition pour la chaîne IL-17RA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Auto-Ac naturels anti-IL-17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Neutralisation de l’IL-17 biodisponible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640080"/>
            <a:ext cx="3017520" cy="5806440"/>
          </a:xfrm>
          <a:prstGeom prst="roundRect">
            <a:avLst>
              <a:gd name="adj" fmla="val 4000"/>
            </a:avLst>
          </a:prstGeom>
          <a:solidFill>
            <a:srgbClr val="FBE9EF"/>
          </a:solidFill>
          <a:ln w="14604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00600" y="822960"/>
            <a:ext cx="2560320" cy="310896"/>
          </a:xfrm>
          <a:prstGeom prst="roundRect">
            <a:avLst>
              <a:gd name="adj" fmla="val 20000"/>
            </a:avLst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IL-17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1280160"/>
            <a:ext cx="25603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C3E50"/>
                </a:solidFill>
                <a:latin typeface="Calibri"/>
              </a:rPr>
              <a:t>Naïve CD4⁺ → Th17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6D7E"/>
                </a:solidFill>
                <a:latin typeface="Calibri"/>
              </a:rPr>
              <a:t>RORγt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370832" y="306324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4370832" y="507492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7543800" y="3063240"/>
            <a:ext cx="256032" cy="201168"/>
          </a:xfrm>
          <a:prstGeom prst="lef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ft Arrow 40"/>
          <p:cNvSpPr/>
          <p:nvPr/>
        </p:nvSpPr>
        <p:spPr>
          <a:xfrm>
            <a:off x="7543800" y="5074920"/>
            <a:ext cx="256032" cy="201168"/>
          </a:xfrm>
          <a:prstGeom prst="lef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92040" y="2148840"/>
            <a:ext cx="2377440" cy="1051560"/>
          </a:xfrm>
          <a:prstGeom prst="ellipse">
            <a:avLst/>
          </a:prstGeom>
          <a:solidFill>
            <a:srgbClr val="C44569"/>
          </a:solidFill>
          <a:ln w="19050">
            <a:solidFill>
              <a:srgbClr val="8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IL-17A / IL-17F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D6E0"/>
                </a:solidFill>
                <a:latin typeface="Calibri"/>
              </a:rPr>
              <a:t>cytokine effectrice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338328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 w="14604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IL-17RA + IL-17RC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ACT1 → NF-κB / MAPK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00" y="452628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C44569"/>
                </a:solidFill>
                <a:latin typeface="Calibri"/>
              </a:rPr>
              <a:t>Principe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Les cytokines contrôlent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à la fois la production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(axe Th17) et la fonction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(synergie / antagonisme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au niveau du récepteur).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* TGF-β seul → Treg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D6D7E"/>
                </a:solidFill>
                <a:latin typeface="Calibri"/>
              </a:rPr>
              <a:t>D’après Noack &amp; Miossec — Interactions avec les cytokines (régulation positive / négative de la production et de la fonction)  |  Style Servier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Cytokine interactions regulating IL-17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Positive (left) and negative (right) regulation — production and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640080"/>
            <a:ext cx="4160520" cy="5806440"/>
          </a:xfrm>
          <a:prstGeom prst="roundRect">
            <a:avLst>
              <a:gd name="adj" fmla="val 3000"/>
            </a:avLst>
          </a:prstGeom>
          <a:solidFill>
            <a:srgbClr val="E8F7F4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3566160" cy="310896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+  POSITIVE REGULATION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A6F66"/>
                </a:solidFill>
                <a:latin typeface="Calibri"/>
              </a:rPr>
              <a:t>Inducers &amp; amplifiers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with TGF-β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IL-1β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differentiation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IL-23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pathogenicity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IL-21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induction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TNF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synergy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IL-22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amplification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60604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" y="260604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Production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953512"/>
            <a:ext cx="3593592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TGF-β + IL-6 → RORγt / Th17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IL-1β enhances inflammatory phenotype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IL-23: maintenance, survival &amp; pathogenicity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IL-21: IL-23-independent induction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52628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A6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452628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0A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Function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4873752"/>
            <a:ext cx="359359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IL-17 + TNF synergy (↑ TNFRII)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CUX1 &amp; IκBζ with NF-κB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Cooperation with IL-1β and IL-22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↑ chemokines, MMPs, CCL20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640080"/>
            <a:ext cx="4160520" cy="5806440"/>
          </a:xfrm>
          <a:prstGeom prst="roundRect">
            <a:avLst>
              <a:gd name="adj" fmla="val 3000"/>
            </a:avLst>
          </a:prstGeom>
          <a:solidFill>
            <a:srgbClr val="FCF1EC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9872" y="749808"/>
            <a:ext cx="3566160" cy="310896"/>
          </a:xfrm>
          <a:prstGeom prst="roundRect">
            <a:avLst>
              <a:gd name="adj" fmla="val 20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−  NEGATIVE REGULATION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109728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84A32"/>
                </a:solidFill>
                <a:latin typeface="Calibri"/>
              </a:rPr>
              <a:t>Inhibitors &amp; antagonists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STAT6–GATA3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54311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IL-13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Th2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80191" y="1353312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Treg / APC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IL-25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IL-17E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54311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anti–IL-17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auto-Ab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0191" y="1920240"/>
            <a:ext cx="1234440" cy="502920"/>
          </a:xfrm>
          <a:prstGeom prst="roundRect">
            <a:avLst>
              <a:gd name="adj" fmla="val 18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46A4E"/>
                </a:solidFill>
                <a:latin typeface="Calibri"/>
              </a:rPr>
              <a:t>TGF-β*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D6D7E"/>
                </a:solidFill>
                <a:latin typeface="Calibri"/>
              </a:rPr>
              <a:t>Treg if −IL-6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260604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1000" y="260604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Production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8" y="2953512"/>
            <a:ext cx="3593592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IL-4: STAT6–GATA3 antagonizes RORγt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IL-13 (Th2 axis) restrains Th17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IL-10 ↓ APC IL-1β / IL-6 / IL-23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IL-10 also acts on effector T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52628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A84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01000" y="4526280"/>
            <a:ext cx="3794760" cy="292608"/>
          </a:xfrm>
          <a:prstGeom prst="roundRect">
            <a:avLst>
              <a:gd name="adj" fmla="val 8000"/>
            </a:avLst>
          </a:prstGeom>
          <a:solidFill>
            <a:srgbClr val="A84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Function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4873752"/>
            <a:ext cx="359359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IL-25 (IL-17E): IL-17RA + IL-17RB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Competition for shared IL-17RA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Natural anti–IL-17 autoantibodies</a:t>
            </a:r>
          </a:p>
          <a:p>
            <a:pPr algn="l">
              <a:spcAft>
                <a:spcPts val="300"/>
              </a:spcAft>
            </a:pPr>
            <a:r>
              <a:rPr sz="950">
                <a:solidFill>
                  <a:srgbClr val="2C3E50"/>
                </a:solidFill>
                <a:latin typeface="Calibri"/>
              </a:rPr>
              <a:t>• Neutralization of bioactive IL-17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640080"/>
            <a:ext cx="3017520" cy="5806440"/>
          </a:xfrm>
          <a:prstGeom prst="roundRect">
            <a:avLst>
              <a:gd name="adj" fmla="val 4000"/>
            </a:avLst>
          </a:prstGeom>
          <a:solidFill>
            <a:srgbClr val="FBE9EF"/>
          </a:solidFill>
          <a:ln w="14604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00600" y="822960"/>
            <a:ext cx="2560320" cy="310896"/>
          </a:xfrm>
          <a:prstGeom prst="roundRect">
            <a:avLst>
              <a:gd name="adj" fmla="val 20000"/>
            </a:avLst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IL-17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1280160"/>
            <a:ext cx="25603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C3E50"/>
                </a:solidFill>
                <a:latin typeface="Calibri"/>
              </a:rPr>
              <a:t>Naïve CD4⁺ → Th17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6D7E"/>
                </a:solidFill>
                <a:latin typeface="Calibri"/>
              </a:rPr>
              <a:t>RORγt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370832" y="306324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4370832" y="5074920"/>
            <a:ext cx="256032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7543800" y="3063240"/>
            <a:ext cx="256032" cy="201168"/>
          </a:xfrm>
          <a:prstGeom prst="lef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ft Arrow 40"/>
          <p:cNvSpPr/>
          <p:nvPr/>
        </p:nvSpPr>
        <p:spPr>
          <a:xfrm>
            <a:off x="7543800" y="5074920"/>
            <a:ext cx="256032" cy="201168"/>
          </a:xfrm>
          <a:prstGeom prst="lef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92040" y="2148840"/>
            <a:ext cx="2377440" cy="1051560"/>
          </a:xfrm>
          <a:prstGeom prst="ellipse">
            <a:avLst/>
          </a:prstGeom>
          <a:solidFill>
            <a:srgbClr val="C44569"/>
          </a:solidFill>
          <a:ln w="19050">
            <a:solidFill>
              <a:srgbClr val="8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IL-17A / IL-17F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D6E0"/>
                </a:solidFill>
                <a:latin typeface="Calibri"/>
              </a:rPr>
              <a:t>effector cytokine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338328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 w="14604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IL-17RA + IL-17RC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ACT1 → NF-κB / MAPK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00" y="452628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C44569"/>
                </a:solidFill>
                <a:latin typeface="Calibri"/>
              </a:rPr>
              <a:t>Principle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Cytokines control both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production (Th17 axis)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and function (receptor-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level synergy 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antagonism).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* TGF-β alone → Treg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D6D7E"/>
                </a:solidFill>
                <a:latin typeface="Calibri"/>
              </a:rPr>
              <a:t>Based on Noack &amp; Miossec — Cytokine interactions (positive / negative regulation of production and function)  |  Servier 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Calibri"/>
              </a:rPr>
              <a:t>Légende — Interactions cytokiniques et régulation de l’IL-17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3E50"/>
                </a:solidFill>
                <a:latin typeface="Calibri"/>
              </a:rPr>
              <a:t>Cette figure résume la régulation positive et négative de l’IL-17 par les interactions cytokiniques, en distinguant production et fonction.
À gauche (régulation positive), TGF-β et IL-6 initient la différenciation Th17 via RORγt ; IL-1β renforce le phénotype inflammatoire ; IL-23 assure le maintien et la pathogénicité ; IL-21 peut induire Th17 indépendamment d’IL-23. Au niveau fonctionnel, la synergie IL-17/TNF (induction de TNFRII, CUX1, IκBζ) et la coopération avec IL-1β et IL-22 amplifient chimiokines, MMPs et CCL20.
À droite (régulation négative), IL-4 et IL-13 freinent Th17 via STAT6–GATA3 ; IL-10 diminue IL-1β/IL-6/IL-23 des APC et limite les effecteurs T. IL-25 (IL-17E) antagonise le signal IL-17A/F en compétition pour IL-17RA, tandis que les auto-anticorps naturels anti-IL-17 réduisent la biodisponibilité de la cytokine.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