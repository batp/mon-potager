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C3E50"/>
                </a:solidFill>
                <a:latin typeface="Calibri"/>
              </a:rPr>
              <a:t>Régulation de l’IL-17 par interactions cellulaires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10896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D6D7E"/>
                </a:solidFill>
                <a:latin typeface="Calibri"/>
              </a:rPr>
              <a:t>Régulation positive (gauche) et négative (droite) — cellules en contact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" y="566928"/>
            <a:ext cx="4892040" cy="5897880"/>
          </a:xfrm>
          <a:prstGeom prst="roundRect">
            <a:avLst>
              <a:gd name="adj" fmla="val 3000"/>
            </a:avLst>
          </a:prstGeom>
          <a:solidFill>
            <a:srgbClr val="E8F7F4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658368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+  INTERACTIONS ACTIVATRICES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24128"/>
            <a:ext cx="45720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6F66"/>
                </a:solidFill>
                <a:latin typeface="Calibri"/>
              </a:rPr>
              <a:t>Contact stroma–immunité ↑ IL-17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371600"/>
            <a:ext cx="1051560" cy="777240"/>
          </a:xfrm>
          <a:prstGeom prst="ellipse">
            <a:avLst/>
          </a:prstGeom>
          <a:solidFill>
            <a:srgbClr val="FBD5DC"/>
          </a:solidFill>
          <a:ln w="22225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D75"/>
                </a:solidFill>
                <a:latin typeface="Calibri"/>
              </a:rPr>
              <a:t>Th17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RORγt⁺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240280"/>
            <a:ext cx="868680" cy="640080"/>
          </a:xfrm>
          <a:prstGeom prst="ellipse">
            <a:avLst/>
          </a:prstGeom>
          <a:solidFill>
            <a:srgbClr val="D0EFFC"/>
          </a:solidFill>
          <a:ln w="222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γδ 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Calibri"/>
              </a:rPr>
              <a:t>source précoce</a:t>
            </a:r>
          </a:p>
        </p:txBody>
      </p:sp>
      <p:sp>
        <p:nvSpPr>
          <p:cNvPr id="11" name="Oval 10"/>
          <p:cNvSpPr/>
          <p:nvPr/>
        </p:nvSpPr>
        <p:spPr>
          <a:xfrm>
            <a:off x="1463040" y="2240280"/>
            <a:ext cx="868680" cy="640080"/>
          </a:xfrm>
          <a:prstGeom prst="ellipse">
            <a:avLst/>
          </a:prstGeom>
          <a:solidFill>
            <a:srgbClr val="CCF5EF"/>
          </a:solidFill>
          <a:ln w="2222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ILC3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Calibri"/>
              </a:rPr>
              <a:t>barrières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15544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1EA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C3AED"/>
                </a:solidFill>
                <a:latin typeface="Calibri"/>
              </a:rPr>
              <a:t>podoplanine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192024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1EA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C3AED"/>
                </a:solidFill>
                <a:latin typeface="Calibri"/>
              </a:rPr>
              <a:t>CD74 trunc.</a:t>
            </a:r>
          </a:p>
        </p:txBody>
      </p:sp>
      <p:sp>
        <p:nvSpPr>
          <p:cNvPr id="14" name="Oval 13"/>
          <p:cNvSpPr/>
          <p:nvPr/>
        </p:nvSpPr>
        <p:spPr>
          <a:xfrm>
            <a:off x="2331720" y="1627632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29000" y="1627632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31720" y="179222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29000" y="179222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31720" y="1956816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29000" y="1956816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11880" y="1417320"/>
            <a:ext cx="1143000" cy="1417320"/>
          </a:xfrm>
          <a:prstGeom prst="roundRect">
            <a:avLst>
              <a:gd name="adj" fmla="val 35000"/>
            </a:avLst>
          </a:prstGeom>
          <a:solidFill>
            <a:srgbClr val="D6E8F4"/>
          </a:solidFill>
          <a:ln w="14604"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A7CA5"/>
                </a:solidFill>
                <a:latin typeface="Calibri"/>
              </a:rPr>
              <a:t>Synoviocyte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Calibri"/>
              </a:rPr>
              <a:t>fibroblaste / stroma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2907792"/>
            <a:ext cx="1143000" cy="201168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D9488"/>
                </a:solidFill>
                <a:latin typeface="Calibri"/>
              </a:rPr>
              <a:t>caspase-1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291840"/>
            <a:ext cx="4572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346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6F66"/>
                </a:solidFill>
                <a:latin typeface="Calibri"/>
              </a:rPr>
              <a:t>DC / macrophages → cytokines Th17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3657600"/>
            <a:ext cx="1188720" cy="960120"/>
          </a:xfrm>
          <a:prstGeom prst="ellipse">
            <a:avLst/>
          </a:prstGeom>
          <a:solidFill>
            <a:srgbClr val="E9DEFF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B5CF6"/>
                </a:solidFill>
                <a:latin typeface="Calibri"/>
              </a:rPr>
              <a:t>DC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Calibri"/>
              </a:rPr>
              <a:t>IL-1β · IL-6 · IL-23</a:t>
            </a:r>
          </a:p>
        </p:txBody>
      </p:sp>
      <p:sp>
        <p:nvSpPr>
          <p:cNvPr id="25" name="Oval 24"/>
          <p:cNvSpPr/>
          <p:nvPr/>
        </p:nvSpPr>
        <p:spPr>
          <a:xfrm>
            <a:off x="1965960" y="3749039"/>
            <a:ext cx="1097280" cy="868680"/>
          </a:xfrm>
          <a:prstGeom prst="ellipse">
            <a:avLst/>
          </a:prstGeom>
          <a:solidFill>
            <a:srgbClr val="FEE9C8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Calibri"/>
              </a:rPr>
              <a:t>Macrophage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inflammation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154680" y="4023360"/>
            <a:ext cx="365760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11880" y="3703320"/>
            <a:ext cx="1097280" cy="960120"/>
          </a:xfrm>
          <a:prstGeom prst="ellipse">
            <a:avLst/>
          </a:prstGeom>
          <a:solidFill>
            <a:srgbClr val="FBD5DC"/>
          </a:solidFill>
          <a:ln w="22225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D75"/>
                </a:solidFill>
                <a:latin typeface="Calibri"/>
              </a:rPr>
              <a:t>Th17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↑ expansion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5257800"/>
            <a:ext cx="4572000" cy="1051560"/>
          </a:xfrm>
          <a:prstGeom prst="roundRect">
            <a:avLst>
              <a:gd name="adj" fmla="val 8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A6F66"/>
                </a:solidFill>
                <a:latin typeface="Calibri"/>
              </a:rPr>
              <a:t>Boucle locale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IL-17 → stroma : IL-6, CXCL1/8, CCL20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→ recrutement Th17 / neutrophiles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Endothélium : ICAM-1, VCAM-1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80" y="566928"/>
            <a:ext cx="1737360" cy="5897880"/>
          </a:xfrm>
          <a:prstGeom prst="roundRect">
            <a:avLst>
              <a:gd name="adj" fmla="val 4000"/>
            </a:avLst>
          </a:prstGeom>
          <a:solidFill>
            <a:srgbClr val="FBE9EF"/>
          </a:solidFill>
          <a:ln w="14604">
            <a:solidFill>
              <a:srgbClr val="C4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49240" y="731520"/>
            <a:ext cx="1463040" cy="502920"/>
          </a:xfrm>
          <a:prstGeom prst="roundRect">
            <a:avLst>
              <a:gd name="adj" fmla="val 15000"/>
            </a:avLst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Production d’IL-17</a:t>
            </a:r>
          </a:p>
        </p:txBody>
      </p:sp>
      <p:sp>
        <p:nvSpPr>
          <p:cNvPr id="31" name="Oval 30"/>
          <p:cNvSpPr/>
          <p:nvPr/>
        </p:nvSpPr>
        <p:spPr>
          <a:xfrm>
            <a:off x="5394960" y="1417320"/>
            <a:ext cx="1371600" cy="1097280"/>
          </a:xfrm>
          <a:prstGeom prst="ellipse">
            <a:avLst/>
          </a:prstGeom>
          <a:solidFill>
            <a:srgbClr val="FBD5DC"/>
          </a:solidFill>
          <a:ln w="22225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5D75"/>
                </a:solidFill>
                <a:latin typeface="Calibri"/>
              </a:rPr>
              <a:t>Th17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D7E"/>
                </a:solidFill>
                <a:latin typeface="Calibri"/>
              </a:rPr>
              <a:t>RORγt⁺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897880" y="2606040"/>
            <a:ext cx="256032" cy="320040"/>
          </a:xfrm>
          <a:prstGeom prst="downArrow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94960" y="3017520"/>
            <a:ext cx="1371600" cy="868680"/>
          </a:xfrm>
          <a:prstGeom prst="ellipse">
            <a:avLst/>
          </a:prstGeom>
          <a:solidFill>
            <a:srgbClr val="C44569"/>
          </a:solidFill>
          <a:ln w="19050">
            <a:solidFill>
              <a:srgbClr val="8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IL-17A / 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49240" y="4069080"/>
            <a:ext cx="146304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C3AED"/>
                </a:solidFill>
                <a:latin typeface="Calibri"/>
              </a:rPr>
              <a:t>Molécules de contact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5D6D7E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C3E50"/>
                </a:solidFill>
                <a:latin typeface="Calibri"/>
              </a:rPr>
              <a:t>podoplanine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(stroma ↔ immune)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5D6D7E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C3E50"/>
                </a:solidFill>
                <a:latin typeface="Calibri"/>
              </a:rPr>
              <a:t>CD74 tronqué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(synoviocytes RA)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5D6D7E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C3E50"/>
                </a:solidFill>
                <a:latin typeface="Calibri"/>
              </a:rPr>
              <a:t>ICAM-1 / VCAM-1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C3E50"/>
                </a:solidFill>
                <a:latin typeface="Calibri"/>
              </a:rPr>
              <a:t>MMPs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937760" y="1828800"/>
            <a:ext cx="256032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eft Arrow 35"/>
          <p:cNvSpPr/>
          <p:nvPr/>
        </p:nvSpPr>
        <p:spPr>
          <a:xfrm>
            <a:off x="6967728" y="1828800"/>
            <a:ext cx="256032" cy="182880"/>
          </a:xfrm>
          <a:prstGeom prst="leftArrow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132320" y="566928"/>
            <a:ext cx="4892040" cy="5897880"/>
          </a:xfrm>
          <a:prstGeom prst="roundRect">
            <a:avLst>
              <a:gd name="adj" fmla="val 3000"/>
            </a:avLst>
          </a:prstGeom>
          <a:solidFill>
            <a:srgbClr val="FCF1EC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52360" y="658368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−  INTERACTIONS INHIBITRICES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1024128"/>
            <a:ext cx="4572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107899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84A32"/>
                </a:solidFill>
                <a:latin typeface="Calibri"/>
              </a:rPr>
              <a:t>Treg / M2 / feedback ↓ IL-17</a:t>
            </a:r>
          </a:p>
        </p:txBody>
      </p:sp>
      <p:sp>
        <p:nvSpPr>
          <p:cNvPr id="41" name="Oval 40"/>
          <p:cNvSpPr/>
          <p:nvPr/>
        </p:nvSpPr>
        <p:spPr>
          <a:xfrm>
            <a:off x="7498079" y="1371600"/>
            <a:ext cx="1188720" cy="1051560"/>
          </a:xfrm>
          <a:prstGeom prst="ellipse">
            <a:avLst/>
          </a:prstGeom>
          <a:solidFill>
            <a:srgbClr val="E2F2C8"/>
          </a:solidFill>
          <a:ln w="22225">
            <a:solidFill>
              <a:srgbClr val="65A3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5A30D"/>
                </a:solidFill>
                <a:latin typeface="Calibri"/>
              </a:rPr>
              <a:t>Treg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FoxP3⁺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78240" y="1600200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F1EA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C3AED"/>
                </a:solidFill>
                <a:latin typeface="Calibri"/>
              </a:rPr>
              <a:t>IL-10 / TGF-β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78240" y="1920240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F1EA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C3AED"/>
                </a:solidFill>
                <a:latin typeface="Calibri"/>
              </a:rPr>
              <a:t>CTLA-4 / PD-1</a:t>
            </a:r>
          </a:p>
        </p:txBody>
      </p:sp>
      <p:sp>
        <p:nvSpPr>
          <p:cNvPr id="44" name="Oval 43"/>
          <p:cNvSpPr/>
          <p:nvPr/>
        </p:nvSpPr>
        <p:spPr>
          <a:xfrm>
            <a:off x="10012680" y="1371600"/>
            <a:ext cx="1188720" cy="1051560"/>
          </a:xfrm>
          <a:prstGeom prst="ellipse">
            <a:avLst/>
          </a:prstGeom>
          <a:solidFill>
            <a:srgbClr val="FBD5DC"/>
          </a:solidFill>
          <a:ln w="22225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D75"/>
                </a:solidFill>
                <a:latin typeface="Calibri"/>
              </a:rPr>
              <a:t>Th17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↓ expansion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87768" y="2834640"/>
            <a:ext cx="4572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2889504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84A32"/>
                </a:solidFill>
                <a:latin typeface="Calibri"/>
              </a:rPr>
              <a:t>Macrophages M2 (IL-4 / IL-13)</a:t>
            </a:r>
          </a:p>
        </p:txBody>
      </p:sp>
      <p:sp>
        <p:nvSpPr>
          <p:cNvPr id="47" name="Oval 46"/>
          <p:cNvSpPr/>
          <p:nvPr/>
        </p:nvSpPr>
        <p:spPr>
          <a:xfrm>
            <a:off x="7589520" y="3154680"/>
            <a:ext cx="1234440" cy="914400"/>
          </a:xfrm>
          <a:prstGeom prst="ellipse">
            <a:avLst/>
          </a:prstGeom>
          <a:solidFill>
            <a:srgbClr val="DCEDC8"/>
          </a:solidFill>
          <a:ln w="22225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D7C0F"/>
                </a:solidFill>
                <a:latin typeface="Calibri"/>
              </a:rPr>
              <a:t>M2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IL-10 · TGF-β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8961120" y="3474720"/>
            <a:ext cx="365760" cy="201168"/>
          </a:xfrm>
          <a:prstGeom prst="rightArrow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509760" y="3154680"/>
            <a:ext cx="1234440" cy="914400"/>
          </a:xfrm>
          <a:prstGeom prst="ellipse">
            <a:avLst/>
          </a:prstGeom>
          <a:solidFill>
            <a:srgbClr val="FBD5DC"/>
          </a:solidFill>
          <a:ln w="22225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D75"/>
                </a:solidFill>
                <a:latin typeface="Calibri"/>
              </a:rPr>
              <a:t>Th17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↓ IL-17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87768" y="4389120"/>
            <a:ext cx="4572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60920" y="4443984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84A32"/>
                </a:solidFill>
                <a:latin typeface="Calibri"/>
              </a:rPr>
              <a:t>Feedback neutrophiles &amp; pdpn–CLEC2</a:t>
            </a:r>
          </a:p>
        </p:txBody>
      </p:sp>
      <p:sp>
        <p:nvSpPr>
          <p:cNvPr id="52" name="Oval 51"/>
          <p:cNvSpPr/>
          <p:nvPr/>
        </p:nvSpPr>
        <p:spPr>
          <a:xfrm>
            <a:off x="7498079" y="4754880"/>
            <a:ext cx="1051560" cy="822960"/>
          </a:xfrm>
          <a:prstGeom prst="ellipse">
            <a:avLst/>
          </a:prstGeom>
          <a:solidFill>
            <a:srgbClr val="E2E8F0"/>
          </a:solidFill>
          <a:ln w="222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Neutro.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D6D7E"/>
                </a:solidFill>
                <a:latin typeface="Calibri"/>
              </a:rPr>
              <a:t>apoptose → ↓IL-23</a:t>
            </a:r>
          </a:p>
        </p:txBody>
      </p:sp>
      <p:sp>
        <p:nvSpPr>
          <p:cNvPr id="53" name="Oval 52"/>
          <p:cNvSpPr/>
          <p:nvPr/>
        </p:nvSpPr>
        <p:spPr>
          <a:xfrm>
            <a:off x="8686800" y="4754880"/>
            <a:ext cx="1051560" cy="822960"/>
          </a:xfrm>
          <a:prstGeom prst="ellipse">
            <a:avLst/>
          </a:prstGeom>
          <a:solidFill>
            <a:srgbClr val="FEE9C8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Calibri"/>
              </a:rPr>
              <a:t>Macro.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D6D7E"/>
                </a:solidFill>
                <a:latin typeface="Calibri"/>
              </a:rPr>
              <a:t>phagocytose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9829800" y="5029200"/>
            <a:ext cx="256032" cy="164592"/>
          </a:xfrm>
          <a:prstGeom prst="rightArrow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149840" y="4709160"/>
            <a:ext cx="1463040" cy="256032"/>
          </a:xfrm>
          <a:prstGeom prst="roundRect">
            <a:avLst>
              <a:gd name="adj" fmla="val 20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46A4E"/>
                </a:solidFill>
                <a:latin typeface="Calibri"/>
              </a:rPr>
              <a:t>↓ IL-23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49840" y="5074920"/>
            <a:ext cx="1463040" cy="256032"/>
          </a:xfrm>
          <a:prstGeom prst="roundRect">
            <a:avLst>
              <a:gd name="adj" fmla="val 20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46A4E"/>
                </a:solidFill>
                <a:latin typeface="Calibri"/>
              </a:rPr>
              <a:t>↓ Th17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98079" y="5715000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F1EA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C3AED"/>
                </a:solidFill>
                <a:latin typeface="Calibri"/>
              </a:rPr>
              <a:t>pdpn–CLEC2 : ↓IL-17 ↑IL-10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" y="6537960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D6D7E"/>
                </a:solidFill>
                <a:latin typeface="Calibri"/>
              </a:rPr>
              <a:t>D’après Noack &amp; Miossec — Interactions cellulaires et moléculaires (podoplanine, CD74 tronqué, CLEC2, Treg/M2)  |  Style Servier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C3E50"/>
                </a:solidFill>
                <a:latin typeface="Calibri"/>
              </a:rPr>
              <a:t>Cellular interactions regulating IL-17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10896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D6D7E"/>
                </a:solidFill>
                <a:latin typeface="Calibri"/>
              </a:rPr>
              <a:t>Positive (left) and negative (right) regulation — interacting cells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" y="566928"/>
            <a:ext cx="4892040" cy="5897880"/>
          </a:xfrm>
          <a:prstGeom prst="roundRect">
            <a:avLst>
              <a:gd name="adj" fmla="val 3000"/>
            </a:avLst>
          </a:prstGeom>
          <a:solidFill>
            <a:srgbClr val="E8F7F4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658368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+  ACTIVATING INTERACTIONS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24128"/>
            <a:ext cx="45720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6F66"/>
                </a:solidFill>
                <a:latin typeface="Calibri"/>
              </a:rPr>
              <a:t>Stroma–immune contact ↑ IL-17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371600"/>
            <a:ext cx="1051560" cy="777240"/>
          </a:xfrm>
          <a:prstGeom prst="ellipse">
            <a:avLst/>
          </a:prstGeom>
          <a:solidFill>
            <a:srgbClr val="FBD5DC"/>
          </a:solidFill>
          <a:ln w="22225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D75"/>
                </a:solidFill>
                <a:latin typeface="Calibri"/>
              </a:rPr>
              <a:t>Th17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RORγt⁺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240280"/>
            <a:ext cx="868680" cy="640080"/>
          </a:xfrm>
          <a:prstGeom prst="ellipse">
            <a:avLst/>
          </a:prstGeom>
          <a:solidFill>
            <a:srgbClr val="D0EFFC"/>
          </a:solidFill>
          <a:ln w="222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γδ 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Calibri"/>
              </a:rPr>
              <a:t>early source</a:t>
            </a:r>
          </a:p>
        </p:txBody>
      </p:sp>
      <p:sp>
        <p:nvSpPr>
          <p:cNvPr id="11" name="Oval 10"/>
          <p:cNvSpPr/>
          <p:nvPr/>
        </p:nvSpPr>
        <p:spPr>
          <a:xfrm>
            <a:off x="1463040" y="2240280"/>
            <a:ext cx="868680" cy="640080"/>
          </a:xfrm>
          <a:prstGeom prst="ellipse">
            <a:avLst/>
          </a:prstGeom>
          <a:solidFill>
            <a:srgbClr val="CCF5EF"/>
          </a:solidFill>
          <a:ln w="2222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ILC3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Calibri"/>
              </a:rPr>
              <a:t>barrier tissues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15544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1EA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C3AED"/>
                </a:solidFill>
                <a:latin typeface="Calibri"/>
              </a:rPr>
              <a:t>podoplanine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192024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1EA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C3AED"/>
                </a:solidFill>
                <a:latin typeface="Calibri"/>
              </a:rPr>
              <a:t>CD74 trunc.</a:t>
            </a:r>
          </a:p>
        </p:txBody>
      </p:sp>
      <p:sp>
        <p:nvSpPr>
          <p:cNvPr id="14" name="Oval 13"/>
          <p:cNvSpPr/>
          <p:nvPr/>
        </p:nvSpPr>
        <p:spPr>
          <a:xfrm>
            <a:off x="2331720" y="1627632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29000" y="1627632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31720" y="179222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29000" y="1792224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31720" y="1956816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29000" y="1956816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11880" y="1417320"/>
            <a:ext cx="1143000" cy="1417320"/>
          </a:xfrm>
          <a:prstGeom prst="roundRect">
            <a:avLst>
              <a:gd name="adj" fmla="val 35000"/>
            </a:avLst>
          </a:prstGeom>
          <a:solidFill>
            <a:srgbClr val="D6E8F4"/>
          </a:solidFill>
          <a:ln w="14604"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A7CA5"/>
                </a:solidFill>
                <a:latin typeface="Calibri"/>
              </a:rPr>
              <a:t>Synoviocyte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Calibri"/>
              </a:rPr>
              <a:t>fibroblast / stroma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2907792"/>
            <a:ext cx="1143000" cy="201168"/>
          </a:xfrm>
          <a:prstGeom prst="roundRect">
            <a:avLst>
              <a:gd name="adj" fmla="val 20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D9488"/>
                </a:solidFill>
                <a:latin typeface="Calibri"/>
              </a:rPr>
              <a:t>caspase-1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291840"/>
            <a:ext cx="4572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346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6F66"/>
                </a:solidFill>
                <a:latin typeface="Calibri"/>
              </a:rPr>
              <a:t>DC / macrophages → Th17 cytokines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3657600"/>
            <a:ext cx="1188720" cy="960120"/>
          </a:xfrm>
          <a:prstGeom prst="ellipse">
            <a:avLst/>
          </a:prstGeom>
          <a:solidFill>
            <a:srgbClr val="E9DEFF"/>
          </a:solidFill>
          <a:ln w="222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B5CF6"/>
                </a:solidFill>
                <a:latin typeface="Calibri"/>
              </a:rPr>
              <a:t>DC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D6D7E"/>
                </a:solidFill>
                <a:latin typeface="Calibri"/>
              </a:rPr>
              <a:t>IL-1β · IL-6 · IL-23</a:t>
            </a:r>
          </a:p>
        </p:txBody>
      </p:sp>
      <p:sp>
        <p:nvSpPr>
          <p:cNvPr id="25" name="Oval 24"/>
          <p:cNvSpPr/>
          <p:nvPr/>
        </p:nvSpPr>
        <p:spPr>
          <a:xfrm>
            <a:off x="1965960" y="3749039"/>
            <a:ext cx="1097280" cy="868680"/>
          </a:xfrm>
          <a:prstGeom prst="ellipse">
            <a:avLst/>
          </a:prstGeom>
          <a:solidFill>
            <a:srgbClr val="FEE9C8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Calibri"/>
              </a:rPr>
              <a:t>Macrophage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inflammation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154680" y="4023360"/>
            <a:ext cx="365760" cy="201168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11880" y="3703320"/>
            <a:ext cx="1097280" cy="960120"/>
          </a:xfrm>
          <a:prstGeom prst="ellipse">
            <a:avLst/>
          </a:prstGeom>
          <a:solidFill>
            <a:srgbClr val="FBD5DC"/>
          </a:solidFill>
          <a:ln w="22225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D75"/>
                </a:solidFill>
                <a:latin typeface="Calibri"/>
              </a:rPr>
              <a:t>Th17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↑ expansion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5257800"/>
            <a:ext cx="4572000" cy="1051560"/>
          </a:xfrm>
          <a:prstGeom prst="roundRect">
            <a:avLst>
              <a:gd name="adj" fmla="val 8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A6F66"/>
                </a:solidFill>
                <a:latin typeface="Calibri"/>
              </a:rPr>
              <a:t>Local loop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IL-17 → stroma: IL-6, CXCL1/8, CCL20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→ Th17 / neutrophil recruitment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C3E50"/>
                </a:solidFill>
                <a:latin typeface="Calibri"/>
              </a:rPr>
              <a:t>Endothelium: ICAM-1, VCAM-1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80" y="566928"/>
            <a:ext cx="1737360" cy="5897880"/>
          </a:xfrm>
          <a:prstGeom prst="roundRect">
            <a:avLst>
              <a:gd name="adj" fmla="val 4000"/>
            </a:avLst>
          </a:prstGeom>
          <a:solidFill>
            <a:srgbClr val="FBE9EF"/>
          </a:solidFill>
          <a:ln w="14604">
            <a:solidFill>
              <a:srgbClr val="C4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49240" y="731520"/>
            <a:ext cx="1463040" cy="502920"/>
          </a:xfrm>
          <a:prstGeom prst="roundRect">
            <a:avLst>
              <a:gd name="adj" fmla="val 15000"/>
            </a:avLst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IL-17 production</a:t>
            </a:r>
          </a:p>
        </p:txBody>
      </p:sp>
      <p:sp>
        <p:nvSpPr>
          <p:cNvPr id="31" name="Oval 30"/>
          <p:cNvSpPr/>
          <p:nvPr/>
        </p:nvSpPr>
        <p:spPr>
          <a:xfrm>
            <a:off x="5394960" y="1417320"/>
            <a:ext cx="1371600" cy="1097280"/>
          </a:xfrm>
          <a:prstGeom prst="ellipse">
            <a:avLst/>
          </a:prstGeom>
          <a:solidFill>
            <a:srgbClr val="FBD5DC"/>
          </a:solidFill>
          <a:ln w="22225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5D75"/>
                </a:solidFill>
                <a:latin typeface="Calibri"/>
              </a:rPr>
              <a:t>Th17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D7E"/>
                </a:solidFill>
                <a:latin typeface="Calibri"/>
              </a:rPr>
              <a:t>RORγt⁺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897880" y="2606040"/>
            <a:ext cx="256032" cy="320040"/>
          </a:xfrm>
          <a:prstGeom prst="downArrow">
            <a:avLst/>
          </a:prstGeom>
          <a:solidFill>
            <a:srgbClr val="C4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94960" y="3017520"/>
            <a:ext cx="1371600" cy="868680"/>
          </a:xfrm>
          <a:prstGeom prst="ellipse">
            <a:avLst/>
          </a:prstGeom>
          <a:solidFill>
            <a:srgbClr val="C44569"/>
          </a:solidFill>
          <a:ln w="19050">
            <a:solidFill>
              <a:srgbClr val="8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IL-17A / 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49240" y="4069080"/>
            <a:ext cx="146304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C3AED"/>
                </a:solidFill>
                <a:latin typeface="Calibri"/>
              </a:rPr>
              <a:t>Contact molecules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5D6D7E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C3E50"/>
                </a:solidFill>
                <a:latin typeface="Calibri"/>
              </a:rPr>
              <a:t>podoplanin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(stroma ↔ immune)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5D6D7E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C3E50"/>
                </a:solidFill>
                <a:latin typeface="Calibri"/>
              </a:rPr>
              <a:t>truncated CD74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(RA synoviocytes)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5D6D7E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C3E50"/>
                </a:solidFill>
                <a:latin typeface="Calibri"/>
              </a:rPr>
              <a:t>ICAM-1 / VCAM-1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C3E50"/>
                </a:solidFill>
                <a:latin typeface="Calibri"/>
              </a:rPr>
              <a:t>MMPs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937760" y="1828800"/>
            <a:ext cx="256032" cy="18288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eft Arrow 35"/>
          <p:cNvSpPr/>
          <p:nvPr/>
        </p:nvSpPr>
        <p:spPr>
          <a:xfrm>
            <a:off x="6967728" y="1828800"/>
            <a:ext cx="256032" cy="182880"/>
          </a:xfrm>
          <a:prstGeom prst="leftArrow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132320" y="566928"/>
            <a:ext cx="4892040" cy="5897880"/>
          </a:xfrm>
          <a:prstGeom prst="roundRect">
            <a:avLst>
              <a:gd name="adj" fmla="val 3000"/>
            </a:avLst>
          </a:prstGeom>
          <a:solidFill>
            <a:srgbClr val="FCF1EC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52360" y="658368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−  INHIBITORY INTERACTIONS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1024128"/>
            <a:ext cx="4572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107899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84A32"/>
                </a:solidFill>
                <a:latin typeface="Calibri"/>
              </a:rPr>
              <a:t>Treg / M2 / feedback ↓ IL-17</a:t>
            </a:r>
          </a:p>
        </p:txBody>
      </p:sp>
      <p:sp>
        <p:nvSpPr>
          <p:cNvPr id="41" name="Oval 40"/>
          <p:cNvSpPr/>
          <p:nvPr/>
        </p:nvSpPr>
        <p:spPr>
          <a:xfrm>
            <a:off x="7498079" y="1371600"/>
            <a:ext cx="1188720" cy="1051560"/>
          </a:xfrm>
          <a:prstGeom prst="ellipse">
            <a:avLst/>
          </a:prstGeom>
          <a:solidFill>
            <a:srgbClr val="E2F2C8"/>
          </a:solidFill>
          <a:ln w="22225">
            <a:solidFill>
              <a:srgbClr val="65A3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5A30D"/>
                </a:solidFill>
                <a:latin typeface="Calibri"/>
              </a:rPr>
              <a:t>Treg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FoxP3⁺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78240" y="1600200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F1EA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C3AED"/>
                </a:solidFill>
                <a:latin typeface="Calibri"/>
              </a:rPr>
              <a:t>IL-10 / TGF-β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78240" y="1920240"/>
            <a:ext cx="1097280" cy="256032"/>
          </a:xfrm>
          <a:prstGeom prst="roundRect">
            <a:avLst>
              <a:gd name="adj" fmla="val 25000"/>
            </a:avLst>
          </a:prstGeom>
          <a:solidFill>
            <a:srgbClr val="F1EA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C3AED"/>
                </a:solidFill>
                <a:latin typeface="Calibri"/>
              </a:rPr>
              <a:t>CTLA-4 / PD-1</a:t>
            </a:r>
          </a:p>
        </p:txBody>
      </p:sp>
      <p:sp>
        <p:nvSpPr>
          <p:cNvPr id="44" name="Oval 43"/>
          <p:cNvSpPr/>
          <p:nvPr/>
        </p:nvSpPr>
        <p:spPr>
          <a:xfrm>
            <a:off x="10012680" y="1371600"/>
            <a:ext cx="1188720" cy="1051560"/>
          </a:xfrm>
          <a:prstGeom prst="ellipse">
            <a:avLst/>
          </a:prstGeom>
          <a:solidFill>
            <a:srgbClr val="FBD5DC"/>
          </a:solidFill>
          <a:ln w="22225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D75"/>
                </a:solidFill>
                <a:latin typeface="Calibri"/>
              </a:rPr>
              <a:t>Th17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↓ expansion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87768" y="2834640"/>
            <a:ext cx="45720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2889504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84A32"/>
                </a:solidFill>
                <a:latin typeface="Calibri"/>
              </a:rPr>
              <a:t>M2 macrophages (IL-4 / IL-13)</a:t>
            </a:r>
          </a:p>
        </p:txBody>
      </p:sp>
      <p:sp>
        <p:nvSpPr>
          <p:cNvPr id="47" name="Oval 46"/>
          <p:cNvSpPr/>
          <p:nvPr/>
        </p:nvSpPr>
        <p:spPr>
          <a:xfrm>
            <a:off x="7589520" y="3154680"/>
            <a:ext cx="1234440" cy="914400"/>
          </a:xfrm>
          <a:prstGeom prst="ellipse">
            <a:avLst/>
          </a:prstGeom>
          <a:solidFill>
            <a:srgbClr val="DCEDC8"/>
          </a:solidFill>
          <a:ln w="22225">
            <a:solidFill>
              <a:srgbClr val="4D7C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D7C0F"/>
                </a:solidFill>
                <a:latin typeface="Calibri"/>
              </a:rPr>
              <a:t>M2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IL-10 · TGF-β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8961120" y="3474720"/>
            <a:ext cx="365760" cy="201168"/>
          </a:xfrm>
          <a:prstGeom prst="rightArrow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509760" y="3154680"/>
            <a:ext cx="1234440" cy="914400"/>
          </a:xfrm>
          <a:prstGeom prst="ellipse">
            <a:avLst/>
          </a:prstGeom>
          <a:solidFill>
            <a:srgbClr val="FBD5DC"/>
          </a:solidFill>
          <a:ln w="22225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5D75"/>
                </a:solidFill>
                <a:latin typeface="Calibri"/>
              </a:rPr>
              <a:t>Th17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6D7E"/>
                </a:solidFill>
                <a:latin typeface="Calibri"/>
              </a:rPr>
              <a:t>↓ IL-17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87768" y="4389120"/>
            <a:ext cx="4572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60920" y="4443984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84A32"/>
                </a:solidFill>
                <a:latin typeface="Calibri"/>
              </a:rPr>
              <a:t>Neutrophil feedback &amp; pdpn–CLEC2</a:t>
            </a:r>
          </a:p>
        </p:txBody>
      </p:sp>
      <p:sp>
        <p:nvSpPr>
          <p:cNvPr id="52" name="Oval 51"/>
          <p:cNvSpPr/>
          <p:nvPr/>
        </p:nvSpPr>
        <p:spPr>
          <a:xfrm>
            <a:off x="7498079" y="4754880"/>
            <a:ext cx="1051560" cy="822960"/>
          </a:xfrm>
          <a:prstGeom prst="ellipse">
            <a:avLst/>
          </a:prstGeom>
          <a:solidFill>
            <a:srgbClr val="E2E8F0"/>
          </a:solidFill>
          <a:ln w="222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Neutro.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D6D7E"/>
                </a:solidFill>
                <a:latin typeface="Calibri"/>
              </a:rPr>
              <a:t>apoptosis → ↓IL-23</a:t>
            </a:r>
          </a:p>
        </p:txBody>
      </p:sp>
      <p:sp>
        <p:nvSpPr>
          <p:cNvPr id="53" name="Oval 52"/>
          <p:cNvSpPr/>
          <p:nvPr/>
        </p:nvSpPr>
        <p:spPr>
          <a:xfrm>
            <a:off x="8686800" y="4754880"/>
            <a:ext cx="1051560" cy="822960"/>
          </a:xfrm>
          <a:prstGeom prst="ellipse">
            <a:avLst/>
          </a:prstGeom>
          <a:solidFill>
            <a:srgbClr val="FEE9C8"/>
          </a:solidFill>
          <a:ln w="222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Calibri"/>
              </a:rPr>
              <a:t>Macro.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D6D7E"/>
                </a:solidFill>
                <a:latin typeface="Calibri"/>
              </a:rPr>
              <a:t>phagocytosis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9829800" y="5029200"/>
            <a:ext cx="256032" cy="164592"/>
          </a:xfrm>
          <a:prstGeom prst="rightArrow">
            <a:avLst/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149840" y="4709160"/>
            <a:ext cx="1463040" cy="256032"/>
          </a:xfrm>
          <a:prstGeom prst="roundRect">
            <a:avLst>
              <a:gd name="adj" fmla="val 20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46A4E"/>
                </a:solidFill>
                <a:latin typeface="Calibri"/>
              </a:rPr>
              <a:t>↓ IL-23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49840" y="5074920"/>
            <a:ext cx="1463040" cy="256032"/>
          </a:xfrm>
          <a:prstGeom prst="roundRect">
            <a:avLst>
              <a:gd name="adj" fmla="val 20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46A4E"/>
                </a:solidFill>
                <a:latin typeface="Calibri"/>
              </a:rPr>
              <a:t>↓ Th17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98079" y="5715000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F1EA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C3AED"/>
                </a:solidFill>
                <a:latin typeface="Calibri"/>
              </a:rPr>
              <a:t>pdpn–CLEC2: ↓IL-17 ↑IL-10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" y="6537960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D6D7E"/>
                </a:solidFill>
                <a:latin typeface="Calibri"/>
              </a:rPr>
              <a:t>Based on Noack &amp; Miossec — Cellular and molecular interactions (podoplanin, truncated CD74, CLEC2, Treg/M2)  |  Servier style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Calibri"/>
              </a:rPr>
              <a:t>Légende — Interactions cellulaires régulant l’IL-17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3E50"/>
                </a:solidFill>
                <a:latin typeface="Calibri"/>
              </a:rPr>
              <a:t>Cette figure illustre la régulation positive et négative de l’IL-17 par les interactions entre cellules immunitaires et stromales.
À gauche (interactions activatrices), les cellules productrices d’IL-17 (Th17, γδ T, ILC3) entrent en contact avec les synoviocytes / fibroblastes. Les molécules de contact podoplanine et l’isoforme tronquée de CD74 favorisent la sécrétion d’IL-17. Les cellules dendritiques et macrophages fournissent IL-1β, IL-6 et IL-23, tandis qu’une boucle locale (IL-6, CXCL1/8, CCL20, ICAM-1/VCAM-1) entretient le recrutement et l’inflammation.
À droite (interactions inhibitrices), les Treg freinent les Th17 via IL-10, TGF-β, CTLA-4 et PD-1 ; les macrophages M2 exercent un frein anti-inflammatoire. La phagocytose des neutrophiles apoptotiques diminue l’IL-23 et limite l’expansion Th17. L’interaction podoplanine–CLEC2 peut également réduire l’IL-17 et augmenter l’IL-10.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