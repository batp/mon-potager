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Régulation de la production et de la fonction de l’IL-17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Schéma centré sur IL-17 / récepteurs — principes au-dessus (production), au-dessous (fonction)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621792"/>
            <a:ext cx="11795760" cy="2542032"/>
          </a:xfrm>
          <a:prstGeom prst="roundRect">
            <a:avLst>
              <a:gd name="adj" fmla="val 3000"/>
            </a:avLst>
          </a:prstGeom>
          <a:solidFill>
            <a:srgbClr val="E6F4F6"/>
          </a:solidFill>
          <a:ln w="14604">
            <a:solidFill>
              <a:srgbClr val="0E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94760" y="694944"/>
            <a:ext cx="4572000" cy="292608"/>
          </a:xfrm>
          <a:prstGeom prst="roundRect">
            <a:avLst>
              <a:gd name="adj" fmla="val 22000"/>
            </a:avLst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▲  RÉGULATION DE LA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Cytokines inductrices (+)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TGF-β + IL-6 → RORγt / Th17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IL-1β : phénotype inflammatoire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IL-23 : maintien &amp; pathogénicité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IL-21 : induction indépendante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4F0F8"/>
          </a:solidFill>
          <a:ln w="14604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Interactions cellulaires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Th17, γδ T, ILC3 ↔ stroma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Synoviocytes / fibroblastes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DC / macrophages (IL-1β/6/23)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podoplanine &amp; CD74 tronqué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8F3EB"/>
          </a:solidFill>
          <a:ln w="14604">
            <a:solidFill>
              <a:srgbClr val="5B8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8192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5B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Modulateurs environnementaux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Microbiote (SFB → Th17)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Âge / inflammaging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Nutrition &amp; vitamine D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Hormones (ex. œstrogènes)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0264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Régulation négative (−)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IL-4 / IL-13 (STAT6–GATA3)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IL-10 (Tregs, macrophages…)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Balance Th17 / Treg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Polarisation M2 anti-inflammatoire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691640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4572000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7498079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0378440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31720" y="3456432"/>
            <a:ext cx="7498079" cy="1298448"/>
          </a:xfrm>
          <a:prstGeom prst="roundRect">
            <a:avLst>
              <a:gd name="adj" fmla="val 6000"/>
            </a:avLst>
          </a:prstGeom>
          <a:solidFill>
            <a:srgbClr val="FBE9EF"/>
          </a:solidFill>
          <a:ln w="14604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" y="3703320"/>
            <a:ext cx="1874519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D6D7E"/>
                </a:solidFill>
                <a:latin typeface="Calibri"/>
              </a:rPr>
              <a:t>Sources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Th17 • γδ T • ILC3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3703320"/>
            <a:ext cx="1874519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D6D7E"/>
                </a:solidFill>
                <a:latin typeface="Calibri"/>
              </a:rPr>
              <a:t>Cellules cibles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Stroma • épithélium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Endothélium • os…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26280"/>
            <a:ext cx="2971800" cy="12801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06040" y="3639312"/>
            <a:ext cx="2331720" cy="960120"/>
          </a:xfrm>
          <a:prstGeom prst="ellipse">
            <a:avLst/>
          </a:prstGeom>
          <a:solidFill>
            <a:srgbClr val="C44569"/>
          </a:solidFill>
          <a:ln w="19050">
            <a:solidFill>
              <a:srgbClr val="8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IL-17A / IL-17F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D6E0"/>
                </a:solidFill>
                <a:latin typeface="Calibri"/>
              </a:rPr>
              <a:t>(± hétérodimère A/F)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639312"/>
            <a:ext cx="4297680" cy="960120"/>
          </a:xfrm>
          <a:prstGeom prst="roundRect">
            <a:avLst>
              <a:gd name="adj" fmla="val 10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IL-17RA + IL-17RC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6D7E"/>
                </a:solidFill>
                <a:latin typeface="Calibri"/>
              </a:rPr>
              <a:t>ACT1 → NF-κB / MAPK / C/EBP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691640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4572000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498079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10378440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1168" y="5029200"/>
            <a:ext cx="11795760" cy="1572768"/>
          </a:xfrm>
          <a:prstGeom prst="roundRect">
            <a:avLst>
              <a:gd name="adj" fmla="val 3000"/>
            </a:avLst>
          </a:prstGeom>
          <a:solidFill>
            <a:srgbClr val="EAEFF6"/>
          </a:solidFill>
          <a:ln w="14604">
            <a:solidFill>
              <a:srgbClr val="2F4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94760" y="5093208"/>
            <a:ext cx="4572000" cy="274320"/>
          </a:xfrm>
          <a:prstGeom prst="roundRect">
            <a:avLst>
              <a:gd name="adj" fmla="val 22000"/>
            </a:avLst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▼  RÉGULATION DE LA FONCTION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FEF3E6"/>
          </a:solidFill>
          <a:ln w="14604">
            <a:solidFill>
              <a:srgbClr val="D97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4048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D97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Synergies cytokiniques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TNF via ↑ TNFRII (CUX1, IκBζ)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IL-1β / IL-22 → MMPs, CCL20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ECEEFA"/>
          </a:solidFill>
          <a:ln w="14604">
            <a:solidFill>
              <a:srgbClr val="4F5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46120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4F5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Biodisponibilité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Auto-anticorps anti-IL-17 naturels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Complexes Ag–Ac &amp; biomarqueurs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08192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E3F7F2"/>
          </a:solidFill>
          <a:ln w="14604">
            <a:solidFill>
              <a:srgbClr val="0F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08192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0F9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Antagonisme endogène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IL-25 (IL-17E) : IL-17RA / RB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Compétition pour IL-17RA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0264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F4ECE9"/>
          </a:solidFill>
          <a:ln w="14604">
            <a:solidFill>
              <a:srgbClr val="7A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70264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7A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Contexte tissulaire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Intestin • vaisseaux • os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Protection ↔ pathologie locale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D6D7E"/>
                </a:solidFill>
                <a:latin typeface="Calibri"/>
              </a:rPr>
              <a:t>D’après Noack &amp; Miossec — Interactions cellulaires et moléculaires régulant la production et la fonction de l’IL-17  |  Topologie type illustration médicale Servier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Calibri"/>
              </a:rPr>
              <a:t>Regulation of IL-17 production and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Centered on IL-17 / receptors — principles above (production), below (function)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621792"/>
            <a:ext cx="11795760" cy="2542032"/>
          </a:xfrm>
          <a:prstGeom prst="roundRect">
            <a:avLst>
              <a:gd name="adj" fmla="val 3000"/>
            </a:avLst>
          </a:prstGeom>
          <a:solidFill>
            <a:srgbClr val="E6F4F6"/>
          </a:solidFill>
          <a:ln w="14604">
            <a:solidFill>
              <a:srgbClr val="0E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94760" y="694944"/>
            <a:ext cx="4572000" cy="292608"/>
          </a:xfrm>
          <a:prstGeom prst="roundRect">
            <a:avLst>
              <a:gd name="adj" fmla="val 22000"/>
            </a:avLst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▲  REGULATION OF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0F5F2"/>
          </a:solidFill>
          <a:ln w="14604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Inducing cytokines (+)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TGF-β + IL-6 → RORγt / Th17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IL-1β: inflammatory phenotype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IL-23: maintenance &amp; pathogenicity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IL-21: IL-23-independent induction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4F0F8"/>
          </a:solidFill>
          <a:ln w="14604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Cellular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Th17, γδ T, ILC3 ↔ stroma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Synoviocytes / fibroblasts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DC / macrophages (IL-1β/6/23)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Podoplanin &amp; truncated CD74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E8F3EB"/>
          </a:solidFill>
          <a:ln w="14604">
            <a:solidFill>
              <a:srgbClr val="5B8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8192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5B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Environmental modulators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Microbiota (SFB → Th17)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Aging / inflammaging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Nutrition &amp; vitamin D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Hormones (e.g. estrogens)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078992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BEEE9"/>
          </a:solidFill>
          <a:ln w="14604">
            <a:solidFill>
              <a:srgbClr val="D4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0264" y="1078992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D4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Negative regulation (−)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389888"/>
            <a:ext cx="253288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IL-4 / IL-13 (STAT6–GATA3)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IL-10 (Tregs, macrophages…)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Th17 / Treg balance</a:t>
            </a:r>
          </a:p>
          <a:p>
            <a:pPr algn="l">
              <a:spcAft>
                <a:spcPts val="15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• M2 macrophage polarization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691640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4572000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7498079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0378440" y="3182112"/>
            <a:ext cx="237744" cy="256032"/>
          </a:xfrm>
          <a:prstGeom prst="downArrow">
            <a:avLst/>
          </a:prstGeom>
          <a:solidFill>
            <a:srgbClr val="0E7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31720" y="3456432"/>
            <a:ext cx="7498079" cy="1298448"/>
          </a:xfrm>
          <a:prstGeom prst="roundRect">
            <a:avLst>
              <a:gd name="adj" fmla="val 6000"/>
            </a:avLst>
          </a:prstGeom>
          <a:solidFill>
            <a:srgbClr val="FBE9EF"/>
          </a:solidFill>
          <a:ln w="14604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0040" y="3703320"/>
            <a:ext cx="1874519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D6D7E"/>
                </a:solidFill>
                <a:latin typeface="Calibri"/>
              </a:rPr>
              <a:t>Sources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Th17 • γδ T • ILC3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3703320"/>
            <a:ext cx="1874519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4604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5D6D7E"/>
                </a:solidFill>
                <a:latin typeface="Calibri"/>
              </a:rPr>
              <a:t>Target cells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Stroma • epithelium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D7E"/>
                </a:solidFill>
                <a:latin typeface="Calibri"/>
              </a:rPr>
              <a:t>Endothelium • bone…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4526280"/>
            <a:ext cx="2971800" cy="128016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06040" y="3639312"/>
            <a:ext cx="2331720" cy="960120"/>
          </a:xfrm>
          <a:prstGeom prst="ellipse">
            <a:avLst/>
          </a:prstGeom>
          <a:solidFill>
            <a:srgbClr val="C44569"/>
          </a:solidFill>
          <a:ln w="19050">
            <a:solidFill>
              <a:srgbClr val="8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IL-17A / IL-17F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FFD6E0"/>
                </a:solidFill>
                <a:latin typeface="Calibri"/>
              </a:rPr>
              <a:t>(± A/F heterodimer)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639312"/>
            <a:ext cx="4297680" cy="960120"/>
          </a:xfrm>
          <a:prstGeom prst="roundRect">
            <a:avLst>
              <a:gd name="adj" fmla="val 10000"/>
            </a:avLst>
          </a:prstGeom>
          <a:solidFill>
            <a:srgbClr val="F1EAFE"/>
          </a:solidFill>
          <a:ln w="14604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IL-17RA + IL-17RC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D6D7E"/>
                </a:solidFill>
                <a:latin typeface="Calibri"/>
              </a:rPr>
              <a:t>ACT1 → NF-κB / MAPK / C/EBP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691640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4572000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7498079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10378440" y="4800600"/>
            <a:ext cx="237744" cy="237744"/>
          </a:xfrm>
          <a:prstGeom prst="downArrow">
            <a:avLst/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1168" y="5029200"/>
            <a:ext cx="11795760" cy="1572768"/>
          </a:xfrm>
          <a:prstGeom prst="roundRect">
            <a:avLst>
              <a:gd name="adj" fmla="val 3000"/>
            </a:avLst>
          </a:prstGeom>
          <a:solidFill>
            <a:srgbClr val="EAEFF6"/>
          </a:solidFill>
          <a:ln w="14604">
            <a:solidFill>
              <a:srgbClr val="2F4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94760" y="5093208"/>
            <a:ext cx="4572000" cy="274320"/>
          </a:xfrm>
          <a:prstGeom prst="roundRect">
            <a:avLst>
              <a:gd name="adj" fmla="val 22000"/>
            </a:avLst>
          </a:prstGeom>
          <a:solidFill>
            <a:srgbClr val="2F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▼  REGULATION OF FUNCTION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FEF3E6"/>
          </a:solidFill>
          <a:ln w="14604">
            <a:solidFill>
              <a:srgbClr val="D97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4048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D97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Cytokine synergies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TNF via ↑ TNFRII (CUX1, IκBζ)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IL-1β / IL-22 → MMPs, CCL20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ECEEFA"/>
          </a:solidFill>
          <a:ln w="14604">
            <a:solidFill>
              <a:srgbClr val="4F5F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46120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4F5F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Bioavailability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Natural anti–IL-17 autoantibodies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Ag–Ab complexes &amp; biomarkers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08192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E3F7F2"/>
          </a:solidFill>
          <a:ln w="14604">
            <a:solidFill>
              <a:srgbClr val="0F9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08192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0F9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Endogenous antagonism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IL-25 (IL-17E): IL-17RA / RB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Competition for IL-17RA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70264" y="5440680"/>
            <a:ext cx="2697480" cy="1024128"/>
          </a:xfrm>
          <a:prstGeom prst="roundRect">
            <a:avLst>
              <a:gd name="adj" fmla="val 10000"/>
            </a:avLst>
          </a:prstGeom>
          <a:solidFill>
            <a:srgbClr val="F4ECE9"/>
          </a:solidFill>
          <a:ln w="14604">
            <a:solidFill>
              <a:srgbClr val="7A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70264" y="5440680"/>
            <a:ext cx="2697480" cy="274320"/>
          </a:xfrm>
          <a:prstGeom prst="roundRect">
            <a:avLst>
              <a:gd name="adj" fmla="val 8000"/>
            </a:avLst>
          </a:prstGeom>
          <a:solidFill>
            <a:srgbClr val="7A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Tissue 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5751576"/>
            <a:ext cx="2532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Intestine • vessels • bone</a:t>
            </a:r>
          </a:p>
          <a:p>
            <a:pPr algn="l">
              <a:spcAft>
                <a:spcPts val="150"/>
              </a:spcAft>
            </a:pPr>
            <a:r>
              <a:rPr sz="850">
                <a:solidFill>
                  <a:srgbClr val="2C3E50"/>
                </a:solidFill>
                <a:latin typeface="Calibri"/>
              </a:rPr>
              <a:t>• Protection ↔ local pathology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60196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D6D7E"/>
                </a:solidFill>
                <a:latin typeface="Calibri"/>
              </a:rPr>
              <a:t>Based on Noack &amp; Miossec — Cellular and molecular interactions regulating IL-17 production and function  |  Servier-style medical topology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Calibri"/>
              </a:rPr>
              <a:t>Légende — Figure IL-17 (production / récepteurs / fonction)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3E50"/>
                </a:solidFill>
                <a:latin typeface="Calibri"/>
              </a:rPr>
              <a:t>Ce schéma distingue deux niveaux de régulation de l’IL-17. Au-dessus, la régulation de la production intègre les cytokines inductrices (TGF-β, IL-6, IL-1β, IL-23, IL-21), les interactions cellulaires (Th17/γδ T/ILC3 avec le stroma ; podoplanine et isoforme tronquée de CD74), les facteurs environnementaux (microbiote, âge, nutrition, hormones) et les freins négatifs (IL-4/IL-13, IL-10, balance Th17/Treg, M2).
Au centre, IL-17A/F engage le complexe IL-17RA/IL-17RC et la cascade ACT1–NF-κB/MAPK/C/EBP.
Au-dessous, la régulation de la fonction porte sur les synergies (notamment TNF via TNFRII), la biodisponibilité (auto-anticorps anti-IL-17), l’antagonisme endogène (IL-25/IL-17E) et le contexte tissulaire (intestin, vaisseaux, os), où l’IL-17 peut être protectrice ou pathologique.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