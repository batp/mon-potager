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11704320" cy="292608"/>
          </a:xfrm>
          <a:prstGeom prst="rect">
            <a:avLst/>
          </a:prstGeom>
          <a:noFill/>
        </p:spPr>
        <p:txBody>
          <a:bodyPr wrap="square">
            <a:spAutoFit/>
          </a:bodyPr>
          <a:lstStyle/>
          <a:p>
            <a:pPr algn="ctr"/>
            <a:r>
              <a:rPr sz="1800" b="1">
                <a:solidFill>
                  <a:srgbClr val="2C3E50"/>
                </a:solidFill>
                <a:latin typeface="Calibri"/>
              </a:rPr>
              <a:t>Options thérapeutiques ciblant l’axe IL-17 / IL-17R</a:t>
            </a:r>
          </a:p>
        </p:txBody>
      </p:sp>
      <p:sp>
        <p:nvSpPr>
          <p:cNvPr id="4" name="TextBox 3"/>
          <p:cNvSpPr txBox="1"/>
          <p:nvPr/>
        </p:nvSpPr>
        <p:spPr>
          <a:xfrm>
            <a:off x="228600" y="292608"/>
            <a:ext cx="11704320" cy="201168"/>
          </a:xfrm>
          <a:prstGeom prst="rect">
            <a:avLst/>
          </a:prstGeom>
          <a:noFill/>
        </p:spPr>
        <p:txBody>
          <a:bodyPr wrap="square">
            <a:spAutoFit/>
          </a:bodyPr>
          <a:lstStyle/>
          <a:p>
            <a:pPr algn="ctr"/>
            <a:r>
              <a:rPr sz="1100" b="0">
                <a:solidFill>
                  <a:srgbClr val="5D6D7E"/>
                </a:solidFill>
                <a:latin typeface="Calibri"/>
              </a:rPr>
              <a:t>Stratégies à différents niveaux — production, cytokine, récepteur, signalisation, synergies</a:t>
            </a:r>
          </a:p>
        </p:txBody>
      </p:sp>
      <p:sp>
        <p:nvSpPr>
          <p:cNvPr id="5" name="Rounded Rectangle 4"/>
          <p:cNvSpPr/>
          <p:nvPr/>
        </p:nvSpPr>
        <p:spPr>
          <a:xfrm>
            <a:off x="4892040" y="548640"/>
            <a:ext cx="2377440" cy="5897880"/>
          </a:xfrm>
          <a:prstGeom prst="roundRect">
            <a:avLst>
              <a:gd name="adj" fmla="val 4000"/>
            </a:avLst>
          </a:prstGeom>
          <a:solidFill>
            <a:srgbClr val="FBE9EF"/>
          </a:solidFill>
          <a:ln w="14604">
            <a:solidFill>
              <a:srgbClr val="C44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74920" y="685800"/>
            <a:ext cx="2011680" cy="292608"/>
          </a:xfrm>
          <a:prstGeom prst="roundRect">
            <a:avLst>
              <a:gd name="adj" fmla="val 2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Cible centrale</a:t>
            </a:r>
          </a:p>
        </p:txBody>
      </p:sp>
      <p:sp>
        <p:nvSpPr>
          <p:cNvPr id="7" name="Rounded Rectangle 6"/>
          <p:cNvSpPr/>
          <p:nvPr/>
        </p:nvSpPr>
        <p:spPr>
          <a:xfrm>
            <a:off x="5074920" y="1097280"/>
            <a:ext cx="2011680" cy="640080"/>
          </a:xfrm>
          <a:prstGeom prst="roundRect">
            <a:avLst>
              <a:gd name="adj" fmla="val 12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0D9488"/>
                </a:solidFill>
                <a:latin typeface="Calibri"/>
              </a:rPr>
              <a:t>Production</a:t>
            </a:r>
          </a:p>
          <a:p>
            <a:pPr algn="ctr">
              <a:spcBef>
                <a:spcPts val="0"/>
              </a:spcBef>
              <a:spcAft>
                <a:spcPts val="100"/>
              </a:spcAft>
            </a:pPr>
            <a:r>
              <a:rPr sz="900" b="0">
                <a:solidFill>
                  <a:srgbClr val="5D6D7E"/>
                </a:solidFill>
                <a:latin typeface="Calibri"/>
              </a:rPr>
              <a:t>Th17 · IL-23 · JAK</a:t>
            </a:r>
          </a:p>
        </p:txBody>
      </p:sp>
      <p:sp>
        <p:nvSpPr>
          <p:cNvPr id="8" name="Down Arrow 7"/>
          <p:cNvSpPr/>
          <p:nvPr/>
        </p:nvSpPr>
        <p:spPr>
          <a:xfrm>
            <a:off x="5897880" y="178308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074920" y="2103120"/>
            <a:ext cx="2011680" cy="868680"/>
          </a:xfrm>
          <a:prstGeom prst="ellipse">
            <a:avLst/>
          </a:prstGeom>
          <a:solidFill>
            <a:srgbClr val="C44569"/>
          </a:solidFill>
          <a:ln w="19050">
            <a:solidFill>
              <a:srgbClr val="8E2D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300" b="1">
                <a:solidFill>
                  <a:srgbClr val="FFFFFF"/>
                </a:solidFill>
                <a:latin typeface="Calibri"/>
              </a:rPr>
              <a:t>IL-17A / IL-17F</a:t>
            </a:r>
          </a:p>
          <a:p>
            <a:pPr algn="ctr">
              <a:spcBef>
                <a:spcPts val="0"/>
              </a:spcBef>
              <a:spcAft>
                <a:spcPts val="100"/>
              </a:spcAft>
            </a:pPr>
            <a:r>
              <a:rPr sz="900" b="0">
                <a:solidFill>
                  <a:srgbClr val="FFD6E0"/>
                </a:solidFill>
                <a:latin typeface="Calibri"/>
              </a:rPr>
              <a:t>(± A/F)</a:t>
            </a:r>
          </a:p>
        </p:txBody>
      </p:sp>
      <p:sp>
        <p:nvSpPr>
          <p:cNvPr id="10" name="Down Arrow 9"/>
          <p:cNvSpPr/>
          <p:nvPr/>
        </p:nvSpPr>
        <p:spPr>
          <a:xfrm>
            <a:off x="5897880" y="301752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74920" y="3337560"/>
            <a:ext cx="2011680" cy="868680"/>
          </a:xfrm>
          <a:prstGeom prst="roundRect">
            <a:avLst>
              <a:gd name="adj" fmla="val 12000"/>
            </a:avLst>
          </a:prstGeom>
          <a:solidFill>
            <a:srgbClr val="F1EAFE"/>
          </a:solidFill>
          <a:ln w="14604">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6D28D9"/>
                </a:solidFill>
                <a:latin typeface="Calibri"/>
              </a:rPr>
              <a:t>IL-17RA + IL-17RC</a:t>
            </a:r>
          </a:p>
          <a:p>
            <a:pPr algn="ctr">
              <a:spcBef>
                <a:spcPts val="0"/>
              </a:spcBef>
              <a:spcAft>
                <a:spcPts val="100"/>
              </a:spcAft>
            </a:pPr>
            <a:r>
              <a:rPr sz="900" b="0">
                <a:solidFill>
                  <a:srgbClr val="5D6D7E"/>
                </a:solidFill>
                <a:latin typeface="Calibri"/>
              </a:rPr>
              <a:t>complexe récepteur</a:t>
            </a:r>
          </a:p>
        </p:txBody>
      </p:sp>
      <p:sp>
        <p:nvSpPr>
          <p:cNvPr id="12" name="Down Arrow 11"/>
          <p:cNvSpPr/>
          <p:nvPr/>
        </p:nvSpPr>
        <p:spPr>
          <a:xfrm>
            <a:off x="5897880" y="425196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74920" y="4572000"/>
            <a:ext cx="2011680" cy="777240"/>
          </a:xfrm>
          <a:prstGeom prst="roundRect">
            <a:avLst>
              <a:gd name="adj" fmla="val 12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7C3AED"/>
                </a:solidFill>
                <a:latin typeface="Calibri"/>
              </a:rPr>
              <a:t>ACT1 → TRAF6</a:t>
            </a:r>
          </a:p>
          <a:p>
            <a:pPr algn="ctr">
              <a:spcBef>
                <a:spcPts val="0"/>
              </a:spcBef>
              <a:spcAft>
                <a:spcPts val="100"/>
              </a:spcAft>
            </a:pPr>
            <a:r>
              <a:rPr sz="900" b="0">
                <a:solidFill>
                  <a:srgbClr val="5D6D7E"/>
                </a:solidFill>
                <a:latin typeface="Calibri"/>
              </a:rPr>
              <a:t>NF-κB / MAPK / C/EBP</a:t>
            </a:r>
          </a:p>
        </p:txBody>
      </p:sp>
      <p:sp>
        <p:nvSpPr>
          <p:cNvPr id="14" name="Rounded Rectangle 13"/>
          <p:cNvSpPr/>
          <p:nvPr/>
        </p:nvSpPr>
        <p:spPr>
          <a:xfrm>
            <a:off x="5074920" y="5532120"/>
            <a:ext cx="2011680" cy="685800"/>
          </a:xfrm>
          <a:prstGeom prst="roundRect">
            <a:avLst>
              <a:gd name="adj" fmla="val 12000"/>
            </a:avLst>
          </a:prstGeom>
          <a:solidFill>
            <a:srgbClr val="FFFFFF"/>
          </a:solidFill>
          <a:ln w="14604">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5D6D7E"/>
                </a:solidFill>
                <a:latin typeface="Calibri"/>
              </a:rPr>
              <a:t>Fonction / signal</a:t>
            </a:r>
          </a:p>
          <a:p>
            <a:pPr algn="ctr">
              <a:spcBef>
                <a:spcPts val="0"/>
              </a:spcBef>
              <a:spcAft>
                <a:spcPts val="100"/>
              </a:spcAft>
            </a:pPr>
            <a:r>
              <a:rPr sz="800" b="0">
                <a:solidFill>
                  <a:srgbClr val="2C3E50"/>
                </a:solidFill>
                <a:latin typeface="Calibri"/>
              </a:rPr>
              <a:t>chimiokines · MMPs · syn. TNF</a:t>
            </a:r>
          </a:p>
        </p:txBody>
      </p:sp>
      <p:sp>
        <p:nvSpPr>
          <p:cNvPr id="15" name="Rounded Rectangle 14"/>
          <p:cNvSpPr/>
          <p:nvPr/>
        </p:nvSpPr>
        <p:spPr>
          <a:xfrm>
            <a:off x="182880" y="548640"/>
            <a:ext cx="4572000" cy="1828800"/>
          </a:xfrm>
          <a:prstGeom prst="roundRect">
            <a:avLst>
              <a:gd name="adj" fmla="val 8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6032" y="621792"/>
            <a:ext cx="640080" cy="219456"/>
          </a:xfrm>
          <a:prstGeom prst="roundRect">
            <a:avLst>
              <a:gd name="adj" fmla="val 2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N1</a:t>
            </a:r>
          </a:p>
        </p:txBody>
      </p:sp>
      <p:sp>
        <p:nvSpPr>
          <p:cNvPr id="17" name="TextBox 16"/>
          <p:cNvSpPr txBox="1"/>
          <p:nvPr/>
        </p:nvSpPr>
        <p:spPr>
          <a:xfrm>
            <a:off x="960120" y="603504"/>
            <a:ext cx="3703320" cy="256032"/>
          </a:xfrm>
          <a:prstGeom prst="rect">
            <a:avLst/>
          </a:prstGeom>
          <a:noFill/>
        </p:spPr>
        <p:txBody>
          <a:bodyPr wrap="square">
            <a:spAutoFit/>
          </a:bodyPr>
          <a:lstStyle/>
          <a:p>
            <a:pPr algn="l"/>
            <a:r>
              <a:rPr sz="1100" b="1">
                <a:solidFill>
                  <a:srgbClr val="0D9488"/>
                </a:solidFill>
                <a:latin typeface="Calibri"/>
              </a:rPr>
              <a:t>Amont — production Th17</a:t>
            </a:r>
          </a:p>
        </p:txBody>
      </p:sp>
      <p:sp>
        <p:nvSpPr>
          <p:cNvPr id="18" name="TextBox 17"/>
          <p:cNvSpPr txBox="1"/>
          <p:nvPr/>
        </p:nvSpPr>
        <p:spPr>
          <a:xfrm>
            <a:off x="292608" y="896112"/>
            <a:ext cx="4370832" cy="1408176"/>
          </a:xfrm>
          <a:prstGeom prst="rect">
            <a:avLst/>
          </a:prstGeom>
          <a:noFill/>
        </p:spPr>
        <p:txBody>
          <a:bodyPr wrap="square">
            <a:spAutoFit/>
          </a:bodyPr>
          <a:lstStyle/>
          <a:p>
            <a:pPr algn="l">
              <a:spcAft>
                <a:spcPts val="200"/>
              </a:spcAft>
            </a:pPr>
            <a:r>
              <a:rPr sz="900">
                <a:solidFill>
                  <a:srgbClr val="2C3E50"/>
                </a:solidFill>
                <a:latin typeface="Calibri"/>
              </a:rPr>
              <a:t>• Anti–IL-23 : ↓ différenciation / maintien Th17</a:t>
            </a:r>
          </a:p>
          <a:p>
            <a:pPr algn="l">
              <a:spcAft>
                <a:spcPts val="200"/>
              </a:spcAft>
            </a:pPr>
            <a:r>
              <a:rPr sz="900">
                <a:solidFill>
                  <a:srgbClr val="2C3E50"/>
                </a:solidFill>
                <a:latin typeface="Calibri"/>
              </a:rPr>
              <a:t>• Inhibiteurs JAK/STAT : ↓ IL-6 / IL-23</a:t>
            </a:r>
          </a:p>
          <a:p>
            <a:pPr algn="l">
              <a:spcAft>
                <a:spcPts val="200"/>
              </a:spcAft>
            </a:pPr>
            <a:r>
              <a:rPr sz="900">
                <a:solidFill>
                  <a:srgbClr val="2C3E50"/>
                </a:solidFill>
                <a:latin typeface="Calibri"/>
              </a:rPr>
              <a:t>• Modulation DC (↓ IL-6, IL-23)</a:t>
            </a:r>
          </a:p>
          <a:p>
            <a:pPr algn="l">
              <a:spcAft>
                <a:spcPts val="200"/>
              </a:spcAft>
            </a:pPr>
            <a:r>
              <a:rPr sz="900">
                <a:solidFill>
                  <a:srgbClr val="2C3E50"/>
                </a:solidFill>
                <a:latin typeface="Calibri"/>
              </a:rPr>
              <a:t>• Microbiote (approches expérimentales)</a:t>
            </a:r>
          </a:p>
        </p:txBody>
      </p:sp>
      <p:sp>
        <p:nvSpPr>
          <p:cNvPr id="19" name="Rounded Rectangle 18"/>
          <p:cNvSpPr/>
          <p:nvPr/>
        </p:nvSpPr>
        <p:spPr>
          <a:xfrm>
            <a:off x="182880" y="2514600"/>
            <a:ext cx="4572000" cy="1828800"/>
          </a:xfrm>
          <a:prstGeom prst="roundRect">
            <a:avLst>
              <a:gd name="adj" fmla="val 8000"/>
            </a:avLst>
          </a:prstGeom>
          <a:solidFill>
            <a:srgbClr val="FEF3E6"/>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6032" y="2587752"/>
            <a:ext cx="640080" cy="219456"/>
          </a:xfrm>
          <a:prstGeom prst="roundRect">
            <a:avLst>
              <a:gd name="adj" fmla="val 20000"/>
            </a:avLst>
          </a:prstGeom>
          <a:solidFill>
            <a:srgbClr val="D972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N2</a:t>
            </a:r>
          </a:p>
        </p:txBody>
      </p:sp>
      <p:sp>
        <p:nvSpPr>
          <p:cNvPr id="21" name="TextBox 20"/>
          <p:cNvSpPr txBox="1"/>
          <p:nvPr/>
        </p:nvSpPr>
        <p:spPr>
          <a:xfrm>
            <a:off x="960120" y="2569464"/>
            <a:ext cx="3703320" cy="256032"/>
          </a:xfrm>
          <a:prstGeom prst="rect">
            <a:avLst/>
          </a:prstGeom>
          <a:noFill/>
        </p:spPr>
        <p:txBody>
          <a:bodyPr wrap="square">
            <a:spAutoFit/>
          </a:bodyPr>
          <a:lstStyle/>
          <a:p>
            <a:pPr algn="l"/>
            <a:r>
              <a:rPr sz="1100" b="1">
                <a:solidFill>
                  <a:srgbClr val="D97216"/>
                </a:solidFill>
                <a:latin typeface="Calibri"/>
              </a:rPr>
              <a:t>Neutralisation de l’IL-17</a:t>
            </a:r>
          </a:p>
        </p:txBody>
      </p:sp>
      <p:sp>
        <p:nvSpPr>
          <p:cNvPr id="22" name="TextBox 21"/>
          <p:cNvSpPr txBox="1"/>
          <p:nvPr/>
        </p:nvSpPr>
        <p:spPr>
          <a:xfrm>
            <a:off x="292608" y="2862072"/>
            <a:ext cx="4370832" cy="1408176"/>
          </a:xfrm>
          <a:prstGeom prst="rect">
            <a:avLst/>
          </a:prstGeom>
          <a:noFill/>
        </p:spPr>
        <p:txBody>
          <a:bodyPr wrap="square">
            <a:spAutoFit/>
          </a:bodyPr>
          <a:lstStyle/>
          <a:p>
            <a:pPr algn="l">
              <a:spcAft>
                <a:spcPts val="200"/>
              </a:spcAft>
            </a:pPr>
            <a:r>
              <a:rPr sz="900">
                <a:solidFill>
                  <a:srgbClr val="2C3E50"/>
                </a:solidFill>
                <a:latin typeface="Calibri"/>
              </a:rPr>
              <a:t>• Secukinumab : anti–IL-17A</a:t>
            </a:r>
          </a:p>
          <a:p>
            <a:pPr algn="l">
              <a:spcAft>
                <a:spcPts val="200"/>
              </a:spcAft>
            </a:pPr>
            <a:r>
              <a:rPr sz="900">
                <a:solidFill>
                  <a:srgbClr val="2C3E50"/>
                </a:solidFill>
                <a:latin typeface="Calibri"/>
              </a:rPr>
              <a:t>• Bimekizumab : anti–IL-17A + IL-17F</a:t>
            </a:r>
          </a:p>
          <a:p>
            <a:pPr algn="l">
              <a:spcAft>
                <a:spcPts val="200"/>
              </a:spcAft>
            </a:pPr>
            <a:r>
              <a:rPr sz="900">
                <a:solidFill>
                  <a:srgbClr val="2C3E50"/>
                </a:solidFill>
                <a:latin typeface="Calibri"/>
              </a:rPr>
              <a:t>• Neutralisation directe de la cytokine</a:t>
            </a:r>
          </a:p>
          <a:p>
            <a:pPr algn="l">
              <a:spcAft>
                <a:spcPts val="200"/>
              </a:spcAft>
            </a:pPr>
            <a:r>
              <a:rPr sz="900">
                <a:solidFill>
                  <a:srgbClr val="2C3E50"/>
                </a:solidFill>
                <a:latin typeface="Calibri"/>
              </a:rPr>
              <a:t>• Efficaces surtout Pso / PsA / SpA</a:t>
            </a:r>
          </a:p>
        </p:txBody>
      </p:sp>
      <p:sp>
        <p:nvSpPr>
          <p:cNvPr id="23" name="Rounded Rectangle 22"/>
          <p:cNvSpPr/>
          <p:nvPr/>
        </p:nvSpPr>
        <p:spPr>
          <a:xfrm>
            <a:off x="7452360" y="548640"/>
            <a:ext cx="4572000" cy="1828800"/>
          </a:xfrm>
          <a:prstGeom prst="roundRect">
            <a:avLst>
              <a:gd name="adj" fmla="val 8000"/>
            </a:avLst>
          </a:prstGeom>
          <a:solidFill>
            <a:srgbClr val="E4F0F8"/>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525512" y="621792"/>
            <a:ext cx="640080" cy="219456"/>
          </a:xfrm>
          <a:prstGeom prst="roundRect">
            <a:avLst>
              <a:gd name="adj" fmla="val 20000"/>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N3</a:t>
            </a:r>
          </a:p>
        </p:txBody>
      </p:sp>
      <p:sp>
        <p:nvSpPr>
          <p:cNvPr id="25" name="TextBox 24"/>
          <p:cNvSpPr txBox="1"/>
          <p:nvPr/>
        </p:nvSpPr>
        <p:spPr>
          <a:xfrm>
            <a:off x="8229600" y="603504"/>
            <a:ext cx="3703320" cy="256032"/>
          </a:xfrm>
          <a:prstGeom prst="rect">
            <a:avLst/>
          </a:prstGeom>
          <a:noFill/>
        </p:spPr>
        <p:txBody>
          <a:bodyPr wrap="square">
            <a:spAutoFit/>
          </a:bodyPr>
          <a:lstStyle/>
          <a:p>
            <a:pPr algn="l"/>
            <a:r>
              <a:rPr sz="1100" b="1">
                <a:solidFill>
                  <a:srgbClr val="3A7CA5"/>
                </a:solidFill>
                <a:latin typeface="Calibri"/>
              </a:rPr>
              <a:t>Blocage du récepteur</a:t>
            </a:r>
          </a:p>
        </p:txBody>
      </p:sp>
      <p:sp>
        <p:nvSpPr>
          <p:cNvPr id="26" name="TextBox 25"/>
          <p:cNvSpPr txBox="1"/>
          <p:nvPr/>
        </p:nvSpPr>
        <p:spPr>
          <a:xfrm>
            <a:off x="7562088" y="896112"/>
            <a:ext cx="4370832" cy="1408176"/>
          </a:xfrm>
          <a:prstGeom prst="rect">
            <a:avLst/>
          </a:prstGeom>
          <a:noFill/>
        </p:spPr>
        <p:txBody>
          <a:bodyPr wrap="square">
            <a:spAutoFit/>
          </a:bodyPr>
          <a:lstStyle/>
          <a:p>
            <a:pPr algn="l">
              <a:spcAft>
                <a:spcPts val="200"/>
              </a:spcAft>
            </a:pPr>
            <a:r>
              <a:rPr sz="900">
                <a:solidFill>
                  <a:srgbClr val="2C3E50"/>
                </a:solidFill>
                <a:latin typeface="Calibri"/>
              </a:rPr>
              <a:t>• Brodalumab : anti–IL-17RA</a:t>
            </a:r>
          </a:p>
          <a:p>
            <a:pPr algn="l">
              <a:spcAft>
                <a:spcPts val="200"/>
              </a:spcAft>
            </a:pPr>
            <a:r>
              <a:rPr sz="900">
                <a:solidFill>
                  <a:srgbClr val="2C3E50"/>
                </a:solidFill>
                <a:latin typeface="Calibri"/>
              </a:rPr>
              <a:t>• Bloque plusieurs ligands via IL-17RA</a:t>
            </a:r>
          </a:p>
          <a:p>
            <a:pPr algn="l">
              <a:spcAft>
                <a:spcPts val="200"/>
              </a:spcAft>
            </a:pPr>
            <a:r>
              <a:rPr sz="900">
                <a:solidFill>
                  <a:srgbClr val="2C3E50"/>
                </a:solidFill>
                <a:latin typeface="Calibri"/>
              </a:rPr>
              <a:t>• ↓ NF-κB / MAPK en aval</a:t>
            </a:r>
          </a:p>
          <a:p>
            <a:pPr algn="l">
              <a:spcAft>
                <a:spcPts val="200"/>
              </a:spcAft>
            </a:pPr>
            <a:r>
              <a:rPr sz="900">
                <a:solidFill>
                  <a:srgbClr val="2C3E50"/>
                </a:solidFill>
                <a:latin typeface="Calibri"/>
              </a:rPr>
              <a:t>• Petites molécules anti-complexe (R&amp;D)</a:t>
            </a:r>
          </a:p>
        </p:txBody>
      </p:sp>
      <p:sp>
        <p:nvSpPr>
          <p:cNvPr id="27" name="Rounded Rectangle 26"/>
          <p:cNvSpPr/>
          <p:nvPr/>
        </p:nvSpPr>
        <p:spPr>
          <a:xfrm>
            <a:off x="7452360" y="2514600"/>
            <a:ext cx="4572000" cy="1828800"/>
          </a:xfrm>
          <a:prstGeom prst="roundRect">
            <a:avLst>
              <a:gd name="adj" fmla="val 8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525512" y="2587752"/>
            <a:ext cx="640080" cy="219456"/>
          </a:xfrm>
          <a:prstGeom prst="roundRect">
            <a:avLst>
              <a:gd name="adj" fmla="val 2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N4</a:t>
            </a:r>
          </a:p>
        </p:txBody>
      </p:sp>
      <p:sp>
        <p:nvSpPr>
          <p:cNvPr id="29" name="TextBox 28"/>
          <p:cNvSpPr txBox="1"/>
          <p:nvPr/>
        </p:nvSpPr>
        <p:spPr>
          <a:xfrm>
            <a:off x="8229600" y="2569464"/>
            <a:ext cx="3703320" cy="256032"/>
          </a:xfrm>
          <a:prstGeom prst="rect">
            <a:avLst/>
          </a:prstGeom>
          <a:noFill/>
        </p:spPr>
        <p:txBody>
          <a:bodyPr wrap="square">
            <a:spAutoFit/>
          </a:bodyPr>
          <a:lstStyle/>
          <a:p>
            <a:pPr algn="l"/>
            <a:r>
              <a:rPr sz="1100" b="1">
                <a:solidFill>
                  <a:srgbClr val="7C3AED"/>
                </a:solidFill>
                <a:latin typeface="Calibri"/>
              </a:rPr>
              <a:t>Signalisation intracellulaire</a:t>
            </a:r>
          </a:p>
        </p:txBody>
      </p:sp>
      <p:sp>
        <p:nvSpPr>
          <p:cNvPr id="30" name="TextBox 29"/>
          <p:cNvSpPr txBox="1"/>
          <p:nvPr/>
        </p:nvSpPr>
        <p:spPr>
          <a:xfrm>
            <a:off x="7562088" y="2862072"/>
            <a:ext cx="4370832" cy="1408176"/>
          </a:xfrm>
          <a:prstGeom prst="rect">
            <a:avLst/>
          </a:prstGeom>
          <a:noFill/>
        </p:spPr>
        <p:txBody>
          <a:bodyPr wrap="square">
            <a:spAutoFit/>
          </a:bodyPr>
          <a:lstStyle/>
          <a:p>
            <a:pPr algn="l">
              <a:spcAft>
                <a:spcPts val="200"/>
              </a:spcAft>
            </a:pPr>
            <a:r>
              <a:rPr sz="900">
                <a:solidFill>
                  <a:srgbClr val="2C3E50"/>
                </a:solidFill>
                <a:latin typeface="Calibri"/>
              </a:rPr>
              <a:t>• Cible ACT1 (TRAF3IP2) – TRAF6</a:t>
            </a:r>
          </a:p>
          <a:p>
            <a:pPr algn="l">
              <a:spcAft>
                <a:spcPts val="200"/>
              </a:spcAft>
            </a:pPr>
            <a:r>
              <a:rPr sz="900">
                <a:solidFill>
                  <a:srgbClr val="2C3E50"/>
                </a:solidFill>
                <a:latin typeface="Calibri"/>
              </a:rPr>
              <a:t>• Préserve potentiellement des fonctions physiologiques</a:t>
            </a:r>
          </a:p>
          <a:p>
            <a:pPr algn="l">
              <a:spcAft>
                <a:spcPts val="200"/>
              </a:spcAft>
            </a:pPr>
            <a:r>
              <a:rPr sz="900">
                <a:solidFill>
                  <a:srgbClr val="2C3E50"/>
                </a:solidFill>
                <a:latin typeface="Calibri"/>
              </a:rPr>
              <a:t>• Voie JAK-indépendante de l’IL-17</a:t>
            </a:r>
          </a:p>
          <a:p>
            <a:pPr algn="l">
              <a:spcAft>
                <a:spcPts val="200"/>
              </a:spcAft>
            </a:pPr>
            <a:r>
              <a:rPr sz="900">
                <a:solidFill>
                  <a:srgbClr val="2C3E50"/>
                </a:solidFill>
                <a:latin typeface="Calibri"/>
              </a:rPr>
              <a:t>• → les JAK i. n’arrêtent pas le signal IL-17</a:t>
            </a:r>
          </a:p>
        </p:txBody>
      </p:sp>
      <p:sp>
        <p:nvSpPr>
          <p:cNvPr id="31" name="Rounded Rectangle 30"/>
          <p:cNvSpPr/>
          <p:nvPr/>
        </p:nvSpPr>
        <p:spPr>
          <a:xfrm>
            <a:off x="182880" y="4480560"/>
            <a:ext cx="4572000" cy="1828800"/>
          </a:xfrm>
          <a:prstGeom prst="roundRect">
            <a:avLst>
              <a:gd name="adj" fmla="val 8000"/>
            </a:avLst>
          </a:prstGeom>
          <a:solidFill>
            <a:srgbClr val="FEF3C7"/>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56032" y="4553712"/>
            <a:ext cx="640080" cy="219456"/>
          </a:xfrm>
          <a:prstGeom prst="roundRect">
            <a:avLst>
              <a:gd name="adj" fmla="val 20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N5</a:t>
            </a:r>
          </a:p>
        </p:txBody>
      </p:sp>
      <p:sp>
        <p:nvSpPr>
          <p:cNvPr id="33" name="TextBox 32"/>
          <p:cNvSpPr txBox="1"/>
          <p:nvPr/>
        </p:nvSpPr>
        <p:spPr>
          <a:xfrm>
            <a:off x="960120" y="4535424"/>
            <a:ext cx="3703320" cy="256032"/>
          </a:xfrm>
          <a:prstGeom prst="rect">
            <a:avLst/>
          </a:prstGeom>
          <a:noFill/>
        </p:spPr>
        <p:txBody>
          <a:bodyPr wrap="square">
            <a:spAutoFit/>
          </a:bodyPr>
          <a:lstStyle/>
          <a:p>
            <a:pPr algn="l"/>
            <a:r>
              <a:rPr sz="1100" b="1">
                <a:solidFill>
                  <a:srgbClr val="B45309"/>
                </a:solidFill>
                <a:latin typeface="Calibri"/>
              </a:rPr>
              <a:t>Synergies / multi-cibles</a:t>
            </a:r>
          </a:p>
        </p:txBody>
      </p:sp>
      <p:sp>
        <p:nvSpPr>
          <p:cNvPr id="34" name="TextBox 33"/>
          <p:cNvSpPr txBox="1"/>
          <p:nvPr/>
        </p:nvSpPr>
        <p:spPr>
          <a:xfrm>
            <a:off x="292608" y="4828032"/>
            <a:ext cx="4370832" cy="1408176"/>
          </a:xfrm>
          <a:prstGeom prst="rect">
            <a:avLst/>
          </a:prstGeom>
          <a:noFill/>
        </p:spPr>
        <p:txBody>
          <a:bodyPr wrap="square">
            <a:spAutoFit/>
          </a:bodyPr>
          <a:lstStyle/>
          <a:p>
            <a:pPr algn="l">
              <a:spcAft>
                <a:spcPts val="200"/>
              </a:spcAft>
            </a:pPr>
            <a:r>
              <a:rPr sz="900">
                <a:solidFill>
                  <a:srgbClr val="2C3E50"/>
                </a:solidFill>
                <a:latin typeface="Calibri"/>
              </a:rPr>
              <a:t>• Bispecific / combos IL-17 + TNF</a:t>
            </a:r>
          </a:p>
          <a:p>
            <a:pPr algn="l">
              <a:spcAft>
                <a:spcPts val="200"/>
              </a:spcAft>
            </a:pPr>
            <a:r>
              <a:rPr sz="900">
                <a:solidFill>
                  <a:srgbClr val="2C3E50"/>
                </a:solidFill>
                <a:latin typeface="Calibri"/>
              </a:rPr>
              <a:t>• Blocage IL-17 + IL-1β (concept)</a:t>
            </a:r>
          </a:p>
          <a:p>
            <a:pPr algn="l">
              <a:spcAft>
                <a:spcPts val="200"/>
              </a:spcAft>
            </a:pPr>
            <a:r>
              <a:rPr sz="900">
                <a:solidFill>
                  <a:srgbClr val="2C3E50"/>
                </a:solidFill>
                <a:latin typeface="Calibri"/>
              </a:rPr>
              <a:t>• Casser la synergie pathogène</a:t>
            </a:r>
          </a:p>
          <a:p>
            <a:pPr algn="l">
              <a:spcAft>
                <a:spcPts val="200"/>
              </a:spcAft>
            </a:pPr>
            <a:r>
              <a:rPr sz="900">
                <a:solidFill>
                  <a:srgbClr val="2C3E50"/>
                </a:solidFill>
                <a:latin typeface="Calibri"/>
              </a:rPr>
              <a:t>• Intérêt si réponse incomplète monothérapie</a:t>
            </a:r>
          </a:p>
        </p:txBody>
      </p:sp>
      <p:sp>
        <p:nvSpPr>
          <p:cNvPr id="35" name="Rounded Rectangle 34"/>
          <p:cNvSpPr/>
          <p:nvPr/>
        </p:nvSpPr>
        <p:spPr>
          <a:xfrm>
            <a:off x="7452360" y="4480560"/>
            <a:ext cx="4572000" cy="1828800"/>
          </a:xfrm>
          <a:prstGeom prst="roundRect">
            <a:avLst>
              <a:gd name="adj" fmla="val 8000"/>
            </a:avLst>
          </a:prstGeom>
          <a:solidFill>
            <a:srgbClr val="ECFCC8"/>
          </a:solidFill>
          <a:ln w="14604">
            <a:solidFill>
              <a:srgbClr val="4D7C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525512" y="4553712"/>
            <a:ext cx="640080" cy="219456"/>
          </a:xfrm>
          <a:prstGeom prst="roundRect">
            <a:avLst>
              <a:gd name="adj" fmla="val 20000"/>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N6</a:t>
            </a:r>
          </a:p>
        </p:txBody>
      </p:sp>
      <p:sp>
        <p:nvSpPr>
          <p:cNvPr id="37" name="TextBox 36"/>
          <p:cNvSpPr txBox="1"/>
          <p:nvPr/>
        </p:nvSpPr>
        <p:spPr>
          <a:xfrm>
            <a:off x="8229600" y="4535424"/>
            <a:ext cx="3703320" cy="256032"/>
          </a:xfrm>
          <a:prstGeom prst="rect">
            <a:avLst/>
          </a:prstGeom>
          <a:noFill/>
        </p:spPr>
        <p:txBody>
          <a:bodyPr wrap="square">
            <a:spAutoFit/>
          </a:bodyPr>
          <a:lstStyle/>
          <a:p>
            <a:pPr algn="l"/>
            <a:r>
              <a:rPr sz="1100" b="1">
                <a:solidFill>
                  <a:srgbClr val="4D7C0F"/>
                </a:solidFill>
                <a:latin typeface="Calibri"/>
              </a:rPr>
              <a:t>Émergent — interactions &amp; ARNs</a:t>
            </a:r>
          </a:p>
        </p:txBody>
      </p:sp>
      <p:sp>
        <p:nvSpPr>
          <p:cNvPr id="38" name="TextBox 37"/>
          <p:cNvSpPr txBox="1"/>
          <p:nvPr/>
        </p:nvSpPr>
        <p:spPr>
          <a:xfrm>
            <a:off x="7562088" y="4828032"/>
            <a:ext cx="4370832" cy="1408176"/>
          </a:xfrm>
          <a:prstGeom prst="rect">
            <a:avLst/>
          </a:prstGeom>
          <a:noFill/>
        </p:spPr>
        <p:txBody>
          <a:bodyPr wrap="square">
            <a:spAutoFit/>
          </a:bodyPr>
          <a:lstStyle/>
          <a:p>
            <a:pPr algn="l">
              <a:spcAft>
                <a:spcPts val="200"/>
              </a:spcAft>
            </a:pPr>
            <a:r>
              <a:rPr sz="900">
                <a:solidFill>
                  <a:srgbClr val="2C3E50"/>
                </a:solidFill>
                <a:latin typeface="Calibri"/>
              </a:rPr>
              <a:t>• podoplanine / CD74 tronqué (interactions)</a:t>
            </a:r>
          </a:p>
          <a:p>
            <a:pPr algn="l">
              <a:spcAft>
                <a:spcPts val="200"/>
              </a:spcAft>
            </a:pPr>
            <a:r>
              <a:rPr sz="900">
                <a:solidFill>
                  <a:srgbClr val="2C3E50"/>
                </a:solidFill>
                <a:latin typeface="Calibri"/>
              </a:rPr>
              <a:t>• miR-155, miR-326 (promoteurs Th17)</a:t>
            </a:r>
          </a:p>
          <a:p>
            <a:pPr algn="l">
              <a:spcAft>
                <a:spcPts val="200"/>
              </a:spcAft>
            </a:pPr>
            <a:r>
              <a:rPr sz="900">
                <a:solidFill>
                  <a:srgbClr val="2C3E50"/>
                </a:solidFill>
                <a:latin typeface="Calibri"/>
              </a:rPr>
              <a:t>• miR-20b, miR-146a (freins)</a:t>
            </a:r>
          </a:p>
          <a:p>
            <a:pPr algn="l">
              <a:spcAft>
                <a:spcPts val="200"/>
              </a:spcAft>
            </a:pPr>
            <a:r>
              <a:rPr sz="900">
                <a:solidFill>
                  <a:srgbClr val="2C3E50"/>
                </a:solidFill>
                <a:latin typeface="Calibri"/>
              </a:rPr>
              <a:t>• lncRNAs / nanobodies (perspectives)</a:t>
            </a:r>
          </a:p>
        </p:txBody>
      </p:sp>
      <p:sp>
        <p:nvSpPr>
          <p:cNvPr id="39" name="Rounded Rectangle 38"/>
          <p:cNvSpPr/>
          <p:nvPr/>
        </p:nvSpPr>
        <p:spPr>
          <a:xfrm>
            <a:off x="182880" y="6355080"/>
            <a:ext cx="11841480" cy="16459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8600" y="6510528"/>
            <a:ext cx="11704320" cy="164592"/>
          </a:xfrm>
          <a:prstGeom prst="rect">
            <a:avLst/>
          </a:prstGeom>
          <a:noFill/>
        </p:spPr>
        <p:txBody>
          <a:bodyPr wrap="square">
            <a:spAutoFit/>
          </a:bodyPr>
          <a:lstStyle/>
          <a:p>
            <a:pPr algn="ctr"/>
            <a:r>
              <a:rPr sz="750" b="0">
                <a:solidFill>
                  <a:srgbClr val="5D6D7E"/>
                </a:solidFill>
                <a:latin typeface="Calibri"/>
              </a:rPr>
              <a:t>Risque partagé : candidose mucocutanée (rôle protecteur de l’IL-17)  ·  D’après Noack &amp; Miossec — Box 2 et stratégies émergentes  |  Direct (Ac monoclonaux) vs indirect (IL-23, JAK) vs émergent  |  Style Servier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11704320" cy="292608"/>
          </a:xfrm>
          <a:prstGeom prst="rect">
            <a:avLst/>
          </a:prstGeom>
          <a:noFill/>
        </p:spPr>
        <p:txBody>
          <a:bodyPr wrap="square">
            <a:spAutoFit/>
          </a:bodyPr>
          <a:lstStyle/>
          <a:p>
            <a:pPr algn="ctr"/>
            <a:r>
              <a:rPr sz="1800" b="1">
                <a:solidFill>
                  <a:srgbClr val="2C3E50"/>
                </a:solidFill>
                <a:latin typeface="Calibri"/>
              </a:rPr>
              <a:t>Therapeutic options targeting the IL-17 / IL-17R axis</a:t>
            </a:r>
          </a:p>
        </p:txBody>
      </p:sp>
      <p:sp>
        <p:nvSpPr>
          <p:cNvPr id="4" name="TextBox 3"/>
          <p:cNvSpPr txBox="1"/>
          <p:nvPr/>
        </p:nvSpPr>
        <p:spPr>
          <a:xfrm>
            <a:off x="228600" y="292608"/>
            <a:ext cx="11704320" cy="201168"/>
          </a:xfrm>
          <a:prstGeom prst="rect">
            <a:avLst/>
          </a:prstGeom>
          <a:noFill/>
        </p:spPr>
        <p:txBody>
          <a:bodyPr wrap="square">
            <a:spAutoFit/>
          </a:bodyPr>
          <a:lstStyle/>
          <a:p>
            <a:pPr algn="ctr"/>
            <a:r>
              <a:rPr sz="1100" b="0">
                <a:solidFill>
                  <a:srgbClr val="5D6D7E"/>
                </a:solidFill>
                <a:latin typeface="Calibri"/>
              </a:rPr>
              <a:t>Strategies at multiple levels — production, cytokine, receptor, signaling, synergies</a:t>
            </a:r>
          </a:p>
        </p:txBody>
      </p:sp>
      <p:sp>
        <p:nvSpPr>
          <p:cNvPr id="5" name="Rounded Rectangle 4"/>
          <p:cNvSpPr/>
          <p:nvPr/>
        </p:nvSpPr>
        <p:spPr>
          <a:xfrm>
            <a:off x="4892040" y="548640"/>
            <a:ext cx="2377440" cy="5897880"/>
          </a:xfrm>
          <a:prstGeom prst="roundRect">
            <a:avLst>
              <a:gd name="adj" fmla="val 4000"/>
            </a:avLst>
          </a:prstGeom>
          <a:solidFill>
            <a:srgbClr val="FBE9EF"/>
          </a:solidFill>
          <a:ln w="14604">
            <a:solidFill>
              <a:srgbClr val="C44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74920" y="685800"/>
            <a:ext cx="2011680" cy="292608"/>
          </a:xfrm>
          <a:prstGeom prst="roundRect">
            <a:avLst>
              <a:gd name="adj" fmla="val 2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Central target</a:t>
            </a:r>
          </a:p>
        </p:txBody>
      </p:sp>
      <p:sp>
        <p:nvSpPr>
          <p:cNvPr id="7" name="Rounded Rectangle 6"/>
          <p:cNvSpPr/>
          <p:nvPr/>
        </p:nvSpPr>
        <p:spPr>
          <a:xfrm>
            <a:off x="5074920" y="1097280"/>
            <a:ext cx="2011680" cy="640080"/>
          </a:xfrm>
          <a:prstGeom prst="roundRect">
            <a:avLst>
              <a:gd name="adj" fmla="val 12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0D9488"/>
                </a:solidFill>
                <a:latin typeface="Calibri"/>
              </a:rPr>
              <a:t>Production</a:t>
            </a:r>
          </a:p>
          <a:p>
            <a:pPr algn="ctr">
              <a:spcBef>
                <a:spcPts val="0"/>
              </a:spcBef>
              <a:spcAft>
                <a:spcPts val="100"/>
              </a:spcAft>
            </a:pPr>
            <a:r>
              <a:rPr sz="900" b="0">
                <a:solidFill>
                  <a:srgbClr val="5D6D7E"/>
                </a:solidFill>
                <a:latin typeface="Calibri"/>
              </a:rPr>
              <a:t>Th17 · IL-23 · JAK</a:t>
            </a:r>
          </a:p>
        </p:txBody>
      </p:sp>
      <p:sp>
        <p:nvSpPr>
          <p:cNvPr id="8" name="Down Arrow 7"/>
          <p:cNvSpPr/>
          <p:nvPr/>
        </p:nvSpPr>
        <p:spPr>
          <a:xfrm>
            <a:off x="5897880" y="178308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074920" y="2103120"/>
            <a:ext cx="2011680" cy="868680"/>
          </a:xfrm>
          <a:prstGeom prst="ellipse">
            <a:avLst/>
          </a:prstGeom>
          <a:solidFill>
            <a:srgbClr val="C44569"/>
          </a:solidFill>
          <a:ln w="19050">
            <a:solidFill>
              <a:srgbClr val="8E2D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300" b="1">
                <a:solidFill>
                  <a:srgbClr val="FFFFFF"/>
                </a:solidFill>
                <a:latin typeface="Calibri"/>
              </a:rPr>
              <a:t>IL-17A / IL-17F</a:t>
            </a:r>
          </a:p>
          <a:p>
            <a:pPr algn="ctr">
              <a:spcBef>
                <a:spcPts val="0"/>
              </a:spcBef>
              <a:spcAft>
                <a:spcPts val="100"/>
              </a:spcAft>
            </a:pPr>
            <a:r>
              <a:rPr sz="900" b="0">
                <a:solidFill>
                  <a:srgbClr val="FFD6E0"/>
                </a:solidFill>
                <a:latin typeface="Calibri"/>
              </a:rPr>
              <a:t>(± A/F)</a:t>
            </a:r>
          </a:p>
        </p:txBody>
      </p:sp>
      <p:sp>
        <p:nvSpPr>
          <p:cNvPr id="10" name="Down Arrow 9"/>
          <p:cNvSpPr/>
          <p:nvPr/>
        </p:nvSpPr>
        <p:spPr>
          <a:xfrm>
            <a:off x="5897880" y="301752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74920" y="3337560"/>
            <a:ext cx="2011680" cy="868680"/>
          </a:xfrm>
          <a:prstGeom prst="roundRect">
            <a:avLst>
              <a:gd name="adj" fmla="val 12000"/>
            </a:avLst>
          </a:prstGeom>
          <a:solidFill>
            <a:srgbClr val="F1EAFE"/>
          </a:solidFill>
          <a:ln w="14604">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6D28D9"/>
                </a:solidFill>
                <a:latin typeface="Calibri"/>
              </a:rPr>
              <a:t>IL-17RA + IL-17RC</a:t>
            </a:r>
          </a:p>
          <a:p>
            <a:pPr algn="ctr">
              <a:spcBef>
                <a:spcPts val="0"/>
              </a:spcBef>
              <a:spcAft>
                <a:spcPts val="100"/>
              </a:spcAft>
            </a:pPr>
            <a:r>
              <a:rPr sz="900" b="0">
                <a:solidFill>
                  <a:srgbClr val="5D6D7E"/>
                </a:solidFill>
                <a:latin typeface="Calibri"/>
              </a:rPr>
              <a:t>receptor complex</a:t>
            </a:r>
          </a:p>
        </p:txBody>
      </p:sp>
      <p:sp>
        <p:nvSpPr>
          <p:cNvPr id="12" name="Down Arrow 11"/>
          <p:cNvSpPr/>
          <p:nvPr/>
        </p:nvSpPr>
        <p:spPr>
          <a:xfrm>
            <a:off x="5897880" y="4251960"/>
            <a:ext cx="256032" cy="256032"/>
          </a:xfrm>
          <a:prstGeom prst="down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74920" y="4572000"/>
            <a:ext cx="2011680" cy="777240"/>
          </a:xfrm>
          <a:prstGeom prst="roundRect">
            <a:avLst>
              <a:gd name="adj" fmla="val 12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7C3AED"/>
                </a:solidFill>
                <a:latin typeface="Calibri"/>
              </a:rPr>
              <a:t>ACT1 → TRAF6</a:t>
            </a:r>
          </a:p>
          <a:p>
            <a:pPr algn="ctr">
              <a:spcBef>
                <a:spcPts val="0"/>
              </a:spcBef>
              <a:spcAft>
                <a:spcPts val="100"/>
              </a:spcAft>
            </a:pPr>
            <a:r>
              <a:rPr sz="900" b="0">
                <a:solidFill>
                  <a:srgbClr val="5D6D7E"/>
                </a:solidFill>
                <a:latin typeface="Calibri"/>
              </a:rPr>
              <a:t>NF-κB / MAPK / C/EBP</a:t>
            </a:r>
          </a:p>
        </p:txBody>
      </p:sp>
      <p:sp>
        <p:nvSpPr>
          <p:cNvPr id="14" name="Rounded Rectangle 13"/>
          <p:cNvSpPr/>
          <p:nvPr/>
        </p:nvSpPr>
        <p:spPr>
          <a:xfrm>
            <a:off x="5074920" y="5532120"/>
            <a:ext cx="2011680" cy="685800"/>
          </a:xfrm>
          <a:prstGeom prst="roundRect">
            <a:avLst>
              <a:gd name="adj" fmla="val 12000"/>
            </a:avLst>
          </a:prstGeom>
          <a:solidFill>
            <a:srgbClr val="FFFFFF"/>
          </a:solidFill>
          <a:ln w="14604">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5D6D7E"/>
                </a:solidFill>
                <a:latin typeface="Calibri"/>
              </a:rPr>
              <a:t>Function / signal</a:t>
            </a:r>
          </a:p>
          <a:p>
            <a:pPr algn="ctr">
              <a:spcBef>
                <a:spcPts val="0"/>
              </a:spcBef>
              <a:spcAft>
                <a:spcPts val="100"/>
              </a:spcAft>
            </a:pPr>
            <a:r>
              <a:rPr sz="800" b="0">
                <a:solidFill>
                  <a:srgbClr val="2C3E50"/>
                </a:solidFill>
                <a:latin typeface="Calibri"/>
              </a:rPr>
              <a:t>chemokines · MMPs · TNF syn.</a:t>
            </a:r>
          </a:p>
        </p:txBody>
      </p:sp>
      <p:sp>
        <p:nvSpPr>
          <p:cNvPr id="15" name="Rounded Rectangle 14"/>
          <p:cNvSpPr/>
          <p:nvPr/>
        </p:nvSpPr>
        <p:spPr>
          <a:xfrm>
            <a:off x="182880" y="548640"/>
            <a:ext cx="4572000" cy="1828800"/>
          </a:xfrm>
          <a:prstGeom prst="roundRect">
            <a:avLst>
              <a:gd name="adj" fmla="val 8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6032" y="621792"/>
            <a:ext cx="640080" cy="219456"/>
          </a:xfrm>
          <a:prstGeom prst="roundRect">
            <a:avLst>
              <a:gd name="adj" fmla="val 2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L1</a:t>
            </a:r>
          </a:p>
        </p:txBody>
      </p:sp>
      <p:sp>
        <p:nvSpPr>
          <p:cNvPr id="17" name="TextBox 16"/>
          <p:cNvSpPr txBox="1"/>
          <p:nvPr/>
        </p:nvSpPr>
        <p:spPr>
          <a:xfrm>
            <a:off x="960120" y="603504"/>
            <a:ext cx="3703320" cy="256032"/>
          </a:xfrm>
          <a:prstGeom prst="rect">
            <a:avLst/>
          </a:prstGeom>
          <a:noFill/>
        </p:spPr>
        <p:txBody>
          <a:bodyPr wrap="square">
            <a:spAutoFit/>
          </a:bodyPr>
          <a:lstStyle/>
          <a:p>
            <a:pPr algn="l"/>
            <a:r>
              <a:rPr sz="1100" b="1">
                <a:solidFill>
                  <a:srgbClr val="0D9488"/>
                </a:solidFill>
                <a:latin typeface="Calibri"/>
              </a:rPr>
              <a:t>Upstream — Th17 production</a:t>
            </a:r>
          </a:p>
        </p:txBody>
      </p:sp>
      <p:sp>
        <p:nvSpPr>
          <p:cNvPr id="18" name="TextBox 17"/>
          <p:cNvSpPr txBox="1"/>
          <p:nvPr/>
        </p:nvSpPr>
        <p:spPr>
          <a:xfrm>
            <a:off x="292608" y="896112"/>
            <a:ext cx="4370832" cy="1408176"/>
          </a:xfrm>
          <a:prstGeom prst="rect">
            <a:avLst/>
          </a:prstGeom>
          <a:noFill/>
        </p:spPr>
        <p:txBody>
          <a:bodyPr wrap="square">
            <a:spAutoFit/>
          </a:bodyPr>
          <a:lstStyle/>
          <a:p>
            <a:pPr algn="l">
              <a:spcAft>
                <a:spcPts val="200"/>
              </a:spcAft>
            </a:pPr>
            <a:r>
              <a:rPr sz="900">
                <a:solidFill>
                  <a:srgbClr val="2C3E50"/>
                </a:solidFill>
                <a:latin typeface="Calibri"/>
              </a:rPr>
              <a:t>• Anti–IL-23: ↓ Th17 differentiation / maintenance</a:t>
            </a:r>
          </a:p>
          <a:p>
            <a:pPr algn="l">
              <a:spcAft>
                <a:spcPts val="200"/>
              </a:spcAft>
            </a:pPr>
            <a:r>
              <a:rPr sz="900">
                <a:solidFill>
                  <a:srgbClr val="2C3E50"/>
                </a:solidFill>
                <a:latin typeface="Calibri"/>
              </a:rPr>
              <a:t>• JAK/STAT inhibitors: ↓ IL-6 / IL-23</a:t>
            </a:r>
          </a:p>
          <a:p>
            <a:pPr algn="l">
              <a:spcAft>
                <a:spcPts val="200"/>
              </a:spcAft>
            </a:pPr>
            <a:r>
              <a:rPr sz="900">
                <a:solidFill>
                  <a:srgbClr val="2C3E50"/>
                </a:solidFill>
                <a:latin typeface="Calibri"/>
              </a:rPr>
              <a:t>• DC modulation (↓ IL-6, IL-23)</a:t>
            </a:r>
          </a:p>
          <a:p>
            <a:pPr algn="l">
              <a:spcAft>
                <a:spcPts val="200"/>
              </a:spcAft>
            </a:pPr>
            <a:r>
              <a:rPr sz="900">
                <a:solidFill>
                  <a:srgbClr val="2C3E50"/>
                </a:solidFill>
                <a:latin typeface="Calibri"/>
              </a:rPr>
              <a:t>• Microbiota (experimental approaches)</a:t>
            </a:r>
          </a:p>
        </p:txBody>
      </p:sp>
      <p:sp>
        <p:nvSpPr>
          <p:cNvPr id="19" name="Rounded Rectangle 18"/>
          <p:cNvSpPr/>
          <p:nvPr/>
        </p:nvSpPr>
        <p:spPr>
          <a:xfrm>
            <a:off x="182880" y="2514600"/>
            <a:ext cx="4572000" cy="1828800"/>
          </a:xfrm>
          <a:prstGeom prst="roundRect">
            <a:avLst>
              <a:gd name="adj" fmla="val 8000"/>
            </a:avLst>
          </a:prstGeom>
          <a:solidFill>
            <a:srgbClr val="FEF3E6"/>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6032" y="2587752"/>
            <a:ext cx="640080" cy="219456"/>
          </a:xfrm>
          <a:prstGeom prst="roundRect">
            <a:avLst>
              <a:gd name="adj" fmla="val 20000"/>
            </a:avLst>
          </a:prstGeom>
          <a:solidFill>
            <a:srgbClr val="D972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L2</a:t>
            </a:r>
          </a:p>
        </p:txBody>
      </p:sp>
      <p:sp>
        <p:nvSpPr>
          <p:cNvPr id="21" name="TextBox 20"/>
          <p:cNvSpPr txBox="1"/>
          <p:nvPr/>
        </p:nvSpPr>
        <p:spPr>
          <a:xfrm>
            <a:off x="960120" y="2569464"/>
            <a:ext cx="3703320" cy="256032"/>
          </a:xfrm>
          <a:prstGeom prst="rect">
            <a:avLst/>
          </a:prstGeom>
          <a:noFill/>
        </p:spPr>
        <p:txBody>
          <a:bodyPr wrap="square">
            <a:spAutoFit/>
          </a:bodyPr>
          <a:lstStyle/>
          <a:p>
            <a:pPr algn="l"/>
            <a:r>
              <a:rPr sz="1100" b="1">
                <a:solidFill>
                  <a:srgbClr val="D97216"/>
                </a:solidFill>
                <a:latin typeface="Calibri"/>
              </a:rPr>
              <a:t>IL-17 neutralization</a:t>
            </a:r>
          </a:p>
        </p:txBody>
      </p:sp>
      <p:sp>
        <p:nvSpPr>
          <p:cNvPr id="22" name="TextBox 21"/>
          <p:cNvSpPr txBox="1"/>
          <p:nvPr/>
        </p:nvSpPr>
        <p:spPr>
          <a:xfrm>
            <a:off x="292608" y="2862072"/>
            <a:ext cx="4370832" cy="1408176"/>
          </a:xfrm>
          <a:prstGeom prst="rect">
            <a:avLst/>
          </a:prstGeom>
          <a:noFill/>
        </p:spPr>
        <p:txBody>
          <a:bodyPr wrap="square">
            <a:spAutoFit/>
          </a:bodyPr>
          <a:lstStyle/>
          <a:p>
            <a:pPr algn="l">
              <a:spcAft>
                <a:spcPts val="200"/>
              </a:spcAft>
            </a:pPr>
            <a:r>
              <a:rPr sz="900">
                <a:solidFill>
                  <a:srgbClr val="2C3E50"/>
                </a:solidFill>
                <a:latin typeface="Calibri"/>
              </a:rPr>
              <a:t>• Secukinumab: anti–IL-17A</a:t>
            </a:r>
          </a:p>
          <a:p>
            <a:pPr algn="l">
              <a:spcAft>
                <a:spcPts val="200"/>
              </a:spcAft>
            </a:pPr>
            <a:r>
              <a:rPr sz="900">
                <a:solidFill>
                  <a:srgbClr val="2C3E50"/>
                </a:solidFill>
                <a:latin typeface="Calibri"/>
              </a:rPr>
              <a:t>• Bimekizumab: anti–IL-17A + IL-17F</a:t>
            </a:r>
          </a:p>
          <a:p>
            <a:pPr algn="l">
              <a:spcAft>
                <a:spcPts val="200"/>
              </a:spcAft>
            </a:pPr>
            <a:r>
              <a:rPr sz="900">
                <a:solidFill>
                  <a:srgbClr val="2C3E50"/>
                </a:solidFill>
                <a:latin typeface="Calibri"/>
              </a:rPr>
              <a:t>• Direct cytokine neutralization</a:t>
            </a:r>
          </a:p>
          <a:p>
            <a:pPr algn="l">
              <a:spcAft>
                <a:spcPts val="200"/>
              </a:spcAft>
            </a:pPr>
            <a:r>
              <a:rPr sz="900">
                <a:solidFill>
                  <a:srgbClr val="2C3E50"/>
                </a:solidFill>
                <a:latin typeface="Calibri"/>
              </a:rPr>
              <a:t>• Strongest in Pso / PsA / SpA</a:t>
            </a:r>
          </a:p>
        </p:txBody>
      </p:sp>
      <p:sp>
        <p:nvSpPr>
          <p:cNvPr id="23" name="Rounded Rectangle 22"/>
          <p:cNvSpPr/>
          <p:nvPr/>
        </p:nvSpPr>
        <p:spPr>
          <a:xfrm>
            <a:off x="7452360" y="548640"/>
            <a:ext cx="4572000" cy="1828800"/>
          </a:xfrm>
          <a:prstGeom prst="roundRect">
            <a:avLst>
              <a:gd name="adj" fmla="val 8000"/>
            </a:avLst>
          </a:prstGeom>
          <a:solidFill>
            <a:srgbClr val="E4F0F8"/>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525512" y="621792"/>
            <a:ext cx="640080" cy="219456"/>
          </a:xfrm>
          <a:prstGeom prst="roundRect">
            <a:avLst>
              <a:gd name="adj" fmla="val 20000"/>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L3</a:t>
            </a:r>
          </a:p>
        </p:txBody>
      </p:sp>
      <p:sp>
        <p:nvSpPr>
          <p:cNvPr id="25" name="TextBox 24"/>
          <p:cNvSpPr txBox="1"/>
          <p:nvPr/>
        </p:nvSpPr>
        <p:spPr>
          <a:xfrm>
            <a:off x="8229600" y="603504"/>
            <a:ext cx="3703320" cy="256032"/>
          </a:xfrm>
          <a:prstGeom prst="rect">
            <a:avLst/>
          </a:prstGeom>
          <a:noFill/>
        </p:spPr>
        <p:txBody>
          <a:bodyPr wrap="square">
            <a:spAutoFit/>
          </a:bodyPr>
          <a:lstStyle/>
          <a:p>
            <a:pPr algn="l"/>
            <a:r>
              <a:rPr sz="1100" b="1">
                <a:solidFill>
                  <a:srgbClr val="3A7CA5"/>
                </a:solidFill>
                <a:latin typeface="Calibri"/>
              </a:rPr>
              <a:t>Receptor blockade</a:t>
            </a:r>
          </a:p>
        </p:txBody>
      </p:sp>
      <p:sp>
        <p:nvSpPr>
          <p:cNvPr id="26" name="TextBox 25"/>
          <p:cNvSpPr txBox="1"/>
          <p:nvPr/>
        </p:nvSpPr>
        <p:spPr>
          <a:xfrm>
            <a:off x="7562088" y="896112"/>
            <a:ext cx="4370832" cy="1408176"/>
          </a:xfrm>
          <a:prstGeom prst="rect">
            <a:avLst/>
          </a:prstGeom>
          <a:noFill/>
        </p:spPr>
        <p:txBody>
          <a:bodyPr wrap="square">
            <a:spAutoFit/>
          </a:bodyPr>
          <a:lstStyle/>
          <a:p>
            <a:pPr algn="l">
              <a:spcAft>
                <a:spcPts val="200"/>
              </a:spcAft>
            </a:pPr>
            <a:r>
              <a:rPr sz="900">
                <a:solidFill>
                  <a:srgbClr val="2C3E50"/>
                </a:solidFill>
                <a:latin typeface="Calibri"/>
              </a:rPr>
              <a:t>• Brodalumab: anti–IL-17RA</a:t>
            </a:r>
          </a:p>
          <a:p>
            <a:pPr algn="l">
              <a:spcAft>
                <a:spcPts val="200"/>
              </a:spcAft>
            </a:pPr>
            <a:r>
              <a:rPr sz="900">
                <a:solidFill>
                  <a:srgbClr val="2C3E50"/>
                </a:solidFill>
                <a:latin typeface="Calibri"/>
              </a:rPr>
              <a:t>• Blocks several ligands via IL-17RA</a:t>
            </a:r>
          </a:p>
          <a:p>
            <a:pPr algn="l">
              <a:spcAft>
                <a:spcPts val="200"/>
              </a:spcAft>
            </a:pPr>
            <a:r>
              <a:rPr sz="900">
                <a:solidFill>
                  <a:srgbClr val="2C3E50"/>
                </a:solidFill>
                <a:latin typeface="Calibri"/>
              </a:rPr>
              <a:t>• ↓ downstream NF-κB / MAPK</a:t>
            </a:r>
          </a:p>
          <a:p>
            <a:pPr algn="l">
              <a:spcAft>
                <a:spcPts val="200"/>
              </a:spcAft>
            </a:pPr>
            <a:r>
              <a:rPr sz="900">
                <a:solidFill>
                  <a:srgbClr val="2C3E50"/>
                </a:solidFill>
                <a:latin typeface="Calibri"/>
              </a:rPr>
              <a:t>• Small-molecule complex disruptors (R&amp;D)</a:t>
            </a:r>
          </a:p>
        </p:txBody>
      </p:sp>
      <p:sp>
        <p:nvSpPr>
          <p:cNvPr id="27" name="Rounded Rectangle 26"/>
          <p:cNvSpPr/>
          <p:nvPr/>
        </p:nvSpPr>
        <p:spPr>
          <a:xfrm>
            <a:off x="7452360" y="2514600"/>
            <a:ext cx="4572000" cy="1828800"/>
          </a:xfrm>
          <a:prstGeom prst="roundRect">
            <a:avLst>
              <a:gd name="adj" fmla="val 8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525512" y="2587752"/>
            <a:ext cx="640080" cy="219456"/>
          </a:xfrm>
          <a:prstGeom prst="roundRect">
            <a:avLst>
              <a:gd name="adj" fmla="val 2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L4</a:t>
            </a:r>
          </a:p>
        </p:txBody>
      </p:sp>
      <p:sp>
        <p:nvSpPr>
          <p:cNvPr id="29" name="TextBox 28"/>
          <p:cNvSpPr txBox="1"/>
          <p:nvPr/>
        </p:nvSpPr>
        <p:spPr>
          <a:xfrm>
            <a:off x="8229600" y="2569464"/>
            <a:ext cx="3703320" cy="256032"/>
          </a:xfrm>
          <a:prstGeom prst="rect">
            <a:avLst/>
          </a:prstGeom>
          <a:noFill/>
        </p:spPr>
        <p:txBody>
          <a:bodyPr wrap="square">
            <a:spAutoFit/>
          </a:bodyPr>
          <a:lstStyle/>
          <a:p>
            <a:pPr algn="l"/>
            <a:r>
              <a:rPr sz="1100" b="1">
                <a:solidFill>
                  <a:srgbClr val="7C3AED"/>
                </a:solidFill>
                <a:latin typeface="Calibri"/>
              </a:rPr>
              <a:t>Intracellular signaling</a:t>
            </a:r>
          </a:p>
        </p:txBody>
      </p:sp>
      <p:sp>
        <p:nvSpPr>
          <p:cNvPr id="30" name="TextBox 29"/>
          <p:cNvSpPr txBox="1"/>
          <p:nvPr/>
        </p:nvSpPr>
        <p:spPr>
          <a:xfrm>
            <a:off x="7562088" y="2862072"/>
            <a:ext cx="4370832" cy="1408176"/>
          </a:xfrm>
          <a:prstGeom prst="rect">
            <a:avLst/>
          </a:prstGeom>
          <a:noFill/>
        </p:spPr>
        <p:txBody>
          <a:bodyPr wrap="square">
            <a:spAutoFit/>
          </a:bodyPr>
          <a:lstStyle/>
          <a:p>
            <a:pPr algn="l">
              <a:spcAft>
                <a:spcPts val="200"/>
              </a:spcAft>
            </a:pPr>
            <a:r>
              <a:rPr sz="900">
                <a:solidFill>
                  <a:srgbClr val="2C3E50"/>
                </a:solidFill>
                <a:latin typeface="Calibri"/>
              </a:rPr>
              <a:t>• ACT1 (TRAF3IP2)–TRAF6 targeting</a:t>
            </a:r>
          </a:p>
          <a:p>
            <a:pPr algn="l">
              <a:spcAft>
                <a:spcPts val="200"/>
              </a:spcAft>
            </a:pPr>
            <a:r>
              <a:rPr sz="900">
                <a:solidFill>
                  <a:srgbClr val="2C3E50"/>
                </a:solidFill>
                <a:latin typeface="Calibri"/>
              </a:rPr>
              <a:t>• May spare some physiological functions</a:t>
            </a:r>
          </a:p>
          <a:p>
            <a:pPr algn="l">
              <a:spcAft>
                <a:spcPts val="200"/>
              </a:spcAft>
            </a:pPr>
            <a:r>
              <a:rPr sz="900">
                <a:solidFill>
                  <a:srgbClr val="2C3E50"/>
                </a:solidFill>
                <a:latin typeface="Calibri"/>
              </a:rPr>
              <a:t>• IL-17 pathway is JAK-independent</a:t>
            </a:r>
          </a:p>
          <a:p>
            <a:pPr algn="l">
              <a:spcAft>
                <a:spcPts val="200"/>
              </a:spcAft>
            </a:pPr>
            <a:r>
              <a:rPr sz="900">
                <a:solidFill>
                  <a:srgbClr val="2C3E50"/>
                </a:solidFill>
                <a:latin typeface="Calibri"/>
              </a:rPr>
              <a:t>• → JAKi do not stop IL-17 signaling</a:t>
            </a:r>
          </a:p>
        </p:txBody>
      </p:sp>
      <p:sp>
        <p:nvSpPr>
          <p:cNvPr id="31" name="Rounded Rectangle 30"/>
          <p:cNvSpPr/>
          <p:nvPr/>
        </p:nvSpPr>
        <p:spPr>
          <a:xfrm>
            <a:off x="182880" y="4480560"/>
            <a:ext cx="4572000" cy="1828800"/>
          </a:xfrm>
          <a:prstGeom prst="roundRect">
            <a:avLst>
              <a:gd name="adj" fmla="val 8000"/>
            </a:avLst>
          </a:prstGeom>
          <a:solidFill>
            <a:srgbClr val="FEF3C7"/>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56032" y="4553712"/>
            <a:ext cx="640080" cy="219456"/>
          </a:xfrm>
          <a:prstGeom prst="roundRect">
            <a:avLst>
              <a:gd name="adj" fmla="val 20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L5</a:t>
            </a:r>
          </a:p>
        </p:txBody>
      </p:sp>
      <p:sp>
        <p:nvSpPr>
          <p:cNvPr id="33" name="TextBox 32"/>
          <p:cNvSpPr txBox="1"/>
          <p:nvPr/>
        </p:nvSpPr>
        <p:spPr>
          <a:xfrm>
            <a:off x="960120" y="4535424"/>
            <a:ext cx="3703320" cy="256032"/>
          </a:xfrm>
          <a:prstGeom prst="rect">
            <a:avLst/>
          </a:prstGeom>
          <a:noFill/>
        </p:spPr>
        <p:txBody>
          <a:bodyPr wrap="square">
            <a:spAutoFit/>
          </a:bodyPr>
          <a:lstStyle/>
          <a:p>
            <a:pPr algn="l"/>
            <a:r>
              <a:rPr sz="1100" b="1">
                <a:solidFill>
                  <a:srgbClr val="B45309"/>
                </a:solidFill>
                <a:latin typeface="Calibri"/>
              </a:rPr>
              <a:t>Synergies / multi-target</a:t>
            </a:r>
          </a:p>
        </p:txBody>
      </p:sp>
      <p:sp>
        <p:nvSpPr>
          <p:cNvPr id="34" name="TextBox 33"/>
          <p:cNvSpPr txBox="1"/>
          <p:nvPr/>
        </p:nvSpPr>
        <p:spPr>
          <a:xfrm>
            <a:off x="292608" y="4828032"/>
            <a:ext cx="4370832" cy="1408176"/>
          </a:xfrm>
          <a:prstGeom prst="rect">
            <a:avLst/>
          </a:prstGeom>
          <a:noFill/>
        </p:spPr>
        <p:txBody>
          <a:bodyPr wrap="square">
            <a:spAutoFit/>
          </a:bodyPr>
          <a:lstStyle/>
          <a:p>
            <a:pPr algn="l">
              <a:spcAft>
                <a:spcPts val="200"/>
              </a:spcAft>
            </a:pPr>
            <a:r>
              <a:rPr sz="900">
                <a:solidFill>
                  <a:srgbClr val="2C3E50"/>
                </a:solidFill>
                <a:latin typeface="Calibri"/>
              </a:rPr>
              <a:t>• Bispecific / combo IL-17 + TNF</a:t>
            </a:r>
          </a:p>
          <a:p>
            <a:pPr algn="l">
              <a:spcAft>
                <a:spcPts val="200"/>
              </a:spcAft>
            </a:pPr>
            <a:r>
              <a:rPr sz="900">
                <a:solidFill>
                  <a:srgbClr val="2C3E50"/>
                </a:solidFill>
                <a:latin typeface="Calibri"/>
              </a:rPr>
              <a:t>• IL-17 + IL-1β blockade (concept)</a:t>
            </a:r>
          </a:p>
          <a:p>
            <a:pPr algn="l">
              <a:spcAft>
                <a:spcPts val="200"/>
              </a:spcAft>
            </a:pPr>
            <a:r>
              <a:rPr sz="900">
                <a:solidFill>
                  <a:srgbClr val="2C3E50"/>
                </a:solidFill>
                <a:latin typeface="Calibri"/>
              </a:rPr>
              <a:t>• Break pathogenic synergy</a:t>
            </a:r>
          </a:p>
          <a:p>
            <a:pPr algn="l">
              <a:spcAft>
                <a:spcPts val="200"/>
              </a:spcAft>
            </a:pPr>
            <a:r>
              <a:rPr sz="900">
                <a:solidFill>
                  <a:srgbClr val="2C3E50"/>
                </a:solidFill>
                <a:latin typeface="Calibri"/>
              </a:rPr>
              <a:t>• Useful after incomplete mono-response</a:t>
            </a:r>
          </a:p>
        </p:txBody>
      </p:sp>
      <p:sp>
        <p:nvSpPr>
          <p:cNvPr id="35" name="Rounded Rectangle 34"/>
          <p:cNvSpPr/>
          <p:nvPr/>
        </p:nvSpPr>
        <p:spPr>
          <a:xfrm>
            <a:off x="7452360" y="4480560"/>
            <a:ext cx="4572000" cy="1828800"/>
          </a:xfrm>
          <a:prstGeom prst="roundRect">
            <a:avLst>
              <a:gd name="adj" fmla="val 8000"/>
            </a:avLst>
          </a:prstGeom>
          <a:solidFill>
            <a:srgbClr val="ECFCC8"/>
          </a:solidFill>
          <a:ln w="14604">
            <a:solidFill>
              <a:srgbClr val="4D7C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525512" y="4553712"/>
            <a:ext cx="640080" cy="219456"/>
          </a:xfrm>
          <a:prstGeom prst="roundRect">
            <a:avLst>
              <a:gd name="adj" fmla="val 20000"/>
            </a:avLst>
          </a:prstGeom>
          <a:solidFill>
            <a:srgbClr val="4D7C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800" b="1">
                <a:solidFill>
                  <a:srgbClr val="FFFFFF"/>
                </a:solidFill>
                <a:latin typeface="Calibri"/>
              </a:rPr>
              <a:t>L6</a:t>
            </a:r>
          </a:p>
        </p:txBody>
      </p:sp>
      <p:sp>
        <p:nvSpPr>
          <p:cNvPr id="37" name="TextBox 36"/>
          <p:cNvSpPr txBox="1"/>
          <p:nvPr/>
        </p:nvSpPr>
        <p:spPr>
          <a:xfrm>
            <a:off x="8229600" y="4535424"/>
            <a:ext cx="3703320" cy="256032"/>
          </a:xfrm>
          <a:prstGeom prst="rect">
            <a:avLst/>
          </a:prstGeom>
          <a:noFill/>
        </p:spPr>
        <p:txBody>
          <a:bodyPr wrap="square">
            <a:spAutoFit/>
          </a:bodyPr>
          <a:lstStyle/>
          <a:p>
            <a:pPr algn="l"/>
            <a:r>
              <a:rPr sz="1100" b="1">
                <a:solidFill>
                  <a:srgbClr val="4D7C0F"/>
                </a:solidFill>
                <a:latin typeface="Calibri"/>
              </a:rPr>
              <a:t>Emerging — contacts &amp; RNAs</a:t>
            </a:r>
          </a:p>
        </p:txBody>
      </p:sp>
      <p:sp>
        <p:nvSpPr>
          <p:cNvPr id="38" name="TextBox 37"/>
          <p:cNvSpPr txBox="1"/>
          <p:nvPr/>
        </p:nvSpPr>
        <p:spPr>
          <a:xfrm>
            <a:off x="7562088" y="4828032"/>
            <a:ext cx="4370832" cy="1408176"/>
          </a:xfrm>
          <a:prstGeom prst="rect">
            <a:avLst/>
          </a:prstGeom>
          <a:noFill/>
        </p:spPr>
        <p:txBody>
          <a:bodyPr wrap="square">
            <a:spAutoFit/>
          </a:bodyPr>
          <a:lstStyle/>
          <a:p>
            <a:pPr algn="l">
              <a:spcAft>
                <a:spcPts val="200"/>
              </a:spcAft>
            </a:pPr>
            <a:r>
              <a:rPr sz="900">
                <a:solidFill>
                  <a:srgbClr val="2C3E50"/>
                </a:solidFill>
                <a:latin typeface="Calibri"/>
              </a:rPr>
              <a:t>• Podoplanin / truncated CD74 (contacts)</a:t>
            </a:r>
          </a:p>
          <a:p>
            <a:pPr algn="l">
              <a:spcAft>
                <a:spcPts val="200"/>
              </a:spcAft>
            </a:pPr>
            <a:r>
              <a:rPr sz="900">
                <a:solidFill>
                  <a:srgbClr val="2C3E50"/>
                </a:solidFill>
                <a:latin typeface="Calibri"/>
              </a:rPr>
              <a:t>• miR-155, miR-326 (Th17 promoters)</a:t>
            </a:r>
          </a:p>
          <a:p>
            <a:pPr algn="l">
              <a:spcAft>
                <a:spcPts val="200"/>
              </a:spcAft>
            </a:pPr>
            <a:r>
              <a:rPr sz="900">
                <a:solidFill>
                  <a:srgbClr val="2C3E50"/>
                </a:solidFill>
                <a:latin typeface="Calibri"/>
              </a:rPr>
              <a:t>• miR-20b, miR-146a (brakes)</a:t>
            </a:r>
          </a:p>
          <a:p>
            <a:pPr algn="l">
              <a:spcAft>
                <a:spcPts val="200"/>
              </a:spcAft>
            </a:pPr>
            <a:r>
              <a:rPr sz="900">
                <a:solidFill>
                  <a:srgbClr val="2C3E50"/>
                </a:solidFill>
                <a:latin typeface="Calibri"/>
              </a:rPr>
              <a:t>• lncRNAs / nanobodies (perspectives)</a:t>
            </a:r>
          </a:p>
        </p:txBody>
      </p:sp>
      <p:sp>
        <p:nvSpPr>
          <p:cNvPr id="39" name="Rounded Rectangle 38"/>
          <p:cNvSpPr/>
          <p:nvPr/>
        </p:nvSpPr>
        <p:spPr>
          <a:xfrm>
            <a:off x="182880" y="6355080"/>
            <a:ext cx="11841480" cy="16459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8600" y="6510528"/>
            <a:ext cx="11704320" cy="164592"/>
          </a:xfrm>
          <a:prstGeom prst="rect">
            <a:avLst/>
          </a:prstGeom>
          <a:noFill/>
        </p:spPr>
        <p:txBody>
          <a:bodyPr wrap="square">
            <a:spAutoFit/>
          </a:bodyPr>
          <a:lstStyle/>
          <a:p>
            <a:pPr algn="ctr"/>
            <a:r>
              <a:rPr sz="750" b="0">
                <a:solidFill>
                  <a:srgbClr val="5D6D7E"/>
                </a:solidFill>
                <a:latin typeface="Calibri"/>
              </a:rPr>
              <a:t>Shared risk: mucocutaneous candidiasis (protective role of IL-17)  ·  Based on Noack &amp; Miossec — Box 2 and emerging strategies  |  Direct (mAbs) vs indirect (IL-23, JAK) vs emerging  |  Servier style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1612880" cy="310896"/>
          </a:xfrm>
          <a:prstGeom prst="rect">
            <a:avLst/>
          </a:prstGeom>
          <a:noFill/>
        </p:spPr>
        <p:txBody>
          <a:bodyPr wrap="square">
            <a:spAutoFit/>
          </a:bodyPr>
          <a:lstStyle/>
          <a:p>
            <a:pPr algn="ctr"/>
            <a:r>
              <a:rPr sz="1800" b="1">
                <a:solidFill>
                  <a:srgbClr val="2C3E50"/>
                </a:solidFill>
                <a:latin typeface="Calibri"/>
              </a:rPr>
              <a:t>Carte des interventions sur la cascade IL-17</a:t>
            </a:r>
          </a:p>
        </p:txBody>
      </p:sp>
      <p:sp>
        <p:nvSpPr>
          <p:cNvPr id="4" name="TextBox 3"/>
          <p:cNvSpPr txBox="1"/>
          <p:nvPr/>
        </p:nvSpPr>
        <p:spPr>
          <a:xfrm>
            <a:off x="274320" y="384048"/>
            <a:ext cx="11612880" cy="219456"/>
          </a:xfrm>
          <a:prstGeom prst="rect">
            <a:avLst/>
          </a:prstGeom>
          <a:noFill/>
        </p:spPr>
        <p:txBody>
          <a:bodyPr wrap="square">
            <a:spAutoFit/>
          </a:bodyPr>
          <a:lstStyle/>
          <a:p>
            <a:pPr algn="ctr"/>
            <a:r>
              <a:rPr sz="1100" b="0">
                <a:solidFill>
                  <a:srgbClr val="5D6D7E"/>
                </a:solidFill>
                <a:latin typeface="Calibri"/>
              </a:rPr>
              <a:t>Du microbiote / DC jusqu’au signal ACT1 — où agissent les traitements</a:t>
            </a:r>
          </a:p>
        </p:txBody>
      </p:sp>
      <p:sp>
        <p:nvSpPr>
          <p:cNvPr id="5" name="Rounded Rectangle 4"/>
          <p:cNvSpPr/>
          <p:nvPr/>
        </p:nvSpPr>
        <p:spPr>
          <a:xfrm>
            <a:off x="320040" y="1645920"/>
            <a:ext cx="1691640" cy="1417320"/>
          </a:xfrm>
          <a:prstGeom prst="roundRect">
            <a:avLst>
              <a:gd name="adj" fmla="val 10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0D9488"/>
                </a:solidFill>
                <a:latin typeface="Calibri"/>
              </a:rPr>
              <a:t>Microbiote</a:t>
            </a:r>
          </a:p>
          <a:p>
            <a:pPr algn="ctr">
              <a:spcBef>
                <a:spcPts val="0"/>
              </a:spcBef>
              <a:spcAft>
                <a:spcPts val="100"/>
              </a:spcAft>
            </a:pPr>
            <a:r>
              <a:rPr sz="1100" b="0">
                <a:solidFill>
                  <a:srgbClr val="2C3E50"/>
                </a:solidFill>
                <a:latin typeface="Calibri"/>
              </a:rPr>
              <a:t>DC / macros</a:t>
            </a:r>
          </a:p>
        </p:txBody>
      </p:sp>
      <p:sp>
        <p:nvSpPr>
          <p:cNvPr id="6" name="Right Arrow 5"/>
          <p:cNvSpPr/>
          <p:nvPr/>
        </p:nvSpPr>
        <p:spPr>
          <a:xfrm>
            <a:off x="2029968"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wn Arrow 6"/>
          <p:cNvSpPr/>
          <p:nvPr/>
        </p:nvSpPr>
        <p:spPr>
          <a:xfrm>
            <a:off x="1005840" y="3154680"/>
            <a:ext cx="274320" cy="41148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9" name="Rounded Rectangle 8"/>
          <p:cNvSpPr/>
          <p:nvPr/>
        </p:nvSpPr>
        <p:spPr>
          <a:xfrm>
            <a:off x="320040" y="3840480"/>
            <a:ext cx="1691640" cy="1645920"/>
          </a:xfrm>
          <a:prstGeom prst="roundRect">
            <a:avLst>
              <a:gd name="adj" fmla="val 10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0D9488"/>
                </a:solidFill>
                <a:latin typeface="Calibri"/>
              </a:rPr>
              <a:t>anti–IL-23</a:t>
            </a:r>
          </a:p>
          <a:p>
            <a:pPr algn="ctr">
              <a:spcBef>
                <a:spcPts val="0"/>
              </a:spcBef>
              <a:spcAft>
                <a:spcPts val="100"/>
              </a:spcAft>
            </a:pPr>
            <a:r>
              <a:rPr sz="1000" b="0">
                <a:solidFill>
                  <a:srgbClr val="2C3E50"/>
                </a:solidFill>
                <a:latin typeface="Calibri"/>
              </a:rPr>
              <a:t>JAKi</a:t>
            </a:r>
          </a:p>
          <a:p>
            <a:pPr algn="ctr">
              <a:spcBef>
                <a:spcPts val="0"/>
              </a:spcBef>
              <a:spcAft>
                <a:spcPts val="100"/>
              </a:spcAft>
            </a:pPr>
            <a:r>
              <a:rPr sz="1000" b="0">
                <a:solidFill>
                  <a:srgbClr val="2C3E50"/>
                </a:solidFill>
                <a:latin typeface="Calibri"/>
              </a:rPr>
              <a:t>mod. DC</a:t>
            </a:r>
          </a:p>
        </p:txBody>
      </p:sp>
      <p:sp>
        <p:nvSpPr>
          <p:cNvPr id="10" name="Rounded Rectangle 9"/>
          <p:cNvSpPr/>
          <p:nvPr/>
        </p:nvSpPr>
        <p:spPr>
          <a:xfrm>
            <a:off x="2212848" y="1645920"/>
            <a:ext cx="1691640" cy="1417320"/>
          </a:xfrm>
          <a:prstGeom prst="roundRect">
            <a:avLst>
              <a:gd name="adj" fmla="val 10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0D9488"/>
                </a:solidFill>
                <a:latin typeface="Calibri"/>
              </a:rPr>
              <a:t>Th17</a:t>
            </a:r>
          </a:p>
          <a:p>
            <a:pPr algn="ctr">
              <a:spcBef>
                <a:spcPts val="0"/>
              </a:spcBef>
              <a:spcAft>
                <a:spcPts val="100"/>
              </a:spcAft>
            </a:pPr>
            <a:r>
              <a:rPr sz="1100" b="0">
                <a:solidFill>
                  <a:srgbClr val="2C3E50"/>
                </a:solidFill>
                <a:latin typeface="Calibri"/>
              </a:rPr>
              <a:t>(RORγt)</a:t>
            </a:r>
          </a:p>
        </p:txBody>
      </p:sp>
      <p:sp>
        <p:nvSpPr>
          <p:cNvPr id="11" name="Right Arrow 10"/>
          <p:cNvSpPr/>
          <p:nvPr/>
        </p:nvSpPr>
        <p:spPr>
          <a:xfrm>
            <a:off x="3922776"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2898648" y="3154680"/>
            <a:ext cx="274320" cy="41148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15768"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14" name="Rounded Rectangle 13"/>
          <p:cNvSpPr/>
          <p:nvPr/>
        </p:nvSpPr>
        <p:spPr>
          <a:xfrm>
            <a:off x="2212848" y="3840480"/>
            <a:ext cx="1691640" cy="1645920"/>
          </a:xfrm>
          <a:prstGeom prst="roundRect">
            <a:avLst>
              <a:gd name="adj" fmla="val 10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0D9488"/>
                </a:solidFill>
                <a:latin typeface="Calibri"/>
              </a:rPr>
              <a:t>miARN</a:t>
            </a:r>
          </a:p>
          <a:p>
            <a:pPr algn="ctr">
              <a:spcBef>
                <a:spcPts val="0"/>
              </a:spcBef>
              <a:spcAft>
                <a:spcPts val="100"/>
              </a:spcAft>
            </a:pPr>
            <a:r>
              <a:rPr sz="1000" b="0">
                <a:solidFill>
                  <a:srgbClr val="2C3E50"/>
                </a:solidFill>
                <a:latin typeface="Calibri"/>
              </a:rPr>
              <a:t>lncARN</a:t>
            </a:r>
          </a:p>
          <a:p>
            <a:pPr algn="ctr">
              <a:spcBef>
                <a:spcPts val="0"/>
              </a:spcBef>
              <a:spcAft>
                <a:spcPts val="100"/>
              </a:spcAft>
            </a:pPr>
            <a:r>
              <a:rPr sz="1000" b="0">
                <a:solidFill>
                  <a:srgbClr val="2C3E50"/>
                </a:solidFill>
                <a:latin typeface="Calibri"/>
              </a:rPr>
              <a:t>Treg/M2*</a:t>
            </a:r>
          </a:p>
        </p:txBody>
      </p:sp>
      <p:sp>
        <p:nvSpPr>
          <p:cNvPr id="15" name="Rounded Rectangle 14"/>
          <p:cNvSpPr/>
          <p:nvPr/>
        </p:nvSpPr>
        <p:spPr>
          <a:xfrm>
            <a:off x="4105656" y="1645920"/>
            <a:ext cx="1691640" cy="1417320"/>
          </a:xfrm>
          <a:prstGeom prst="roundRect">
            <a:avLst>
              <a:gd name="adj" fmla="val 10000"/>
            </a:avLst>
          </a:prstGeom>
          <a:solidFill>
            <a:srgbClr val="FEF3E6"/>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D97216"/>
                </a:solidFill>
                <a:latin typeface="Calibri"/>
              </a:rPr>
              <a:t>IL-17A/F</a:t>
            </a:r>
          </a:p>
        </p:txBody>
      </p:sp>
      <p:sp>
        <p:nvSpPr>
          <p:cNvPr id="16" name="Right Arrow 15"/>
          <p:cNvSpPr/>
          <p:nvPr/>
        </p:nvSpPr>
        <p:spPr>
          <a:xfrm>
            <a:off x="5815584"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4791456" y="3154680"/>
            <a:ext cx="274320" cy="411480"/>
          </a:xfrm>
          <a:prstGeom prst="downArrow">
            <a:avLst/>
          </a:prstGeom>
          <a:solidFill>
            <a:srgbClr val="D97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08576"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19" name="Rounded Rectangle 18"/>
          <p:cNvSpPr/>
          <p:nvPr/>
        </p:nvSpPr>
        <p:spPr>
          <a:xfrm>
            <a:off x="4105656" y="3840480"/>
            <a:ext cx="1691640" cy="1645920"/>
          </a:xfrm>
          <a:prstGeom prst="roundRect">
            <a:avLst>
              <a:gd name="adj" fmla="val 10000"/>
            </a:avLst>
          </a:prstGeom>
          <a:solidFill>
            <a:srgbClr val="FFFFFF"/>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D97216"/>
                </a:solidFill>
                <a:latin typeface="Calibri"/>
              </a:rPr>
              <a:t>secukinumab</a:t>
            </a:r>
          </a:p>
          <a:p>
            <a:pPr algn="ctr">
              <a:spcBef>
                <a:spcPts val="0"/>
              </a:spcBef>
              <a:spcAft>
                <a:spcPts val="100"/>
              </a:spcAft>
            </a:pPr>
            <a:r>
              <a:rPr sz="1000" b="0">
                <a:solidFill>
                  <a:srgbClr val="2C3E50"/>
                </a:solidFill>
                <a:latin typeface="Calibri"/>
              </a:rPr>
              <a:t>bimekizumab</a:t>
            </a:r>
          </a:p>
        </p:txBody>
      </p:sp>
      <p:sp>
        <p:nvSpPr>
          <p:cNvPr id="20" name="Rounded Rectangle 19"/>
          <p:cNvSpPr/>
          <p:nvPr/>
        </p:nvSpPr>
        <p:spPr>
          <a:xfrm>
            <a:off x="5998464" y="1645920"/>
            <a:ext cx="1691640" cy="1417320"/>
          </a:xfrm>
          <a:prstGeom prst="roundRect">
            <a:avLst>
              <a:gd name="adj" fmla="val 10000"/>
            </a:avLst>
          </a:prstGeom>
          <a:solidFill>
            <a:srgbClr val="E4F0F8"/>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3A7CA5"/>
                </a:solidFill>
                <a:latin typeface="Calibri"/>
              </a:rPr>
              <a:t>IL-17RA/RC</a:t>
            </a:r>
          </a:p>
        </p:txBody>
      </p:sp>
      <p:sp>
        <p:nvSpPr>
          <p:cNvPr id="21" name="Right Arrow 20"/>
          <p:cNvSpPr/>
          <p:nvPr/>
        </p:nvSpPr>
        <p:spPr>
          <a:xfrm>
            <a:off x="7708392"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6684264" y="3154680"/>
            <a:ext cx="274320" cy="411480"/>
          </a:xfrm>
          <a:prstGeom prst="downArrow">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01384"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24" name="Rounded Rectangle 23"/>
          <p:cNvSpPr/>
          <p:nvPr/>
        </p:nvSpPr>
        <p:spPr>
          <a:xfrm>
            <a:off x="5998464" y="3840480"/>
            <a:ext cx="1691640" cy="1645920"/>
          </a:xfrm>
          <a:prstGeom prst="roundRect">
            <a:avLst>
              <a:gd name="adj" fmla="val 10000"/>
            </a:avLst>
          </a:prstGeom>
          <a:solidFill>
            <a:srgbClr val="FFFFFF"/>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3A7CA5"/>
                </a:solidFill>
                <a:latin typeface="Calibri"/>
              </a:rPr>
              <a:t>brodalumab</a:t>
            </a:r>
          </a:p>
          <a:p>
            <a:pPr algn="ctr">
              <a:spcBef>
                <a:spcPts val="0"/>
              </a:spcBef>
              <a:spcAft>
                <a:spcPts val="100"/>
              </a:spcAft>
            </a:pPr>
            <a:r>
              <a:rPr sz="1000" b="0">
                <a:solidFill>
                  <a:srgbClr val="2C3E50"/>
                </a:solidFill>
                <a:latin typeface="Calibri"/>
              </a:rPr>
              <a:t>petites mol.</a:t>
            </a:r>
          </a:p>
        </p:txBody>
      </p:sp>
      <p:sp>
        <p:nvSpPr>
          <p:cNvPr id="25" name="Rounded Rectangle 24"/>
          <p:cNvSpPr/>
          <p:nvPr/>
        </p:nvSpPr>
        <p:spPr>
          <a:xfrm>
            <a:off x="7891272" y="1645920"/>
            <a:ext cx="1691640" cy="1417320"/>
          </a:xfrm>
          <a:prstGeom prst="roundRect">
            <a:avLst>
              <a:gd name="adj" fmla="val 10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7C3AED"/>
                </a:solidFill>
                <a:latin typeface="Calibri"/>
              </a:rPr>
              <a:t>ACT1–TRAF6</a:t>
            </a:r>
          </a:p>
          <a:p>
            <a:pPr algn="ctr">
              <a:spcBef>
                <a:spcPts val="0"/>
              </a:spcBef>
              <a:spcAft>
                <a:spcPts val="100"/>
              </a:spcAft>
            </a:pPr>
            <a:r>
              <a:rPr sz="1100" b="0">
                <a:solidFill>
                  <a:srgbClr val="2C3E50"/>
                </a:solidFill>
                <a:latin typeface="Calibri"/>
              </a:rPr>
              <a:t>NF-κB/MAPK</a:t>
            </a:r>
          </a:p>
        </p:txBody>
      </p:sp>
      <p:sp>
        <p:nvSpPr>
          <p:cNvPr id="26" name="Right Arrow 25"/>
          <p:cNvSpPr/>
          <p:nvPr/>
        </p:nvSpPr>
        <p:spPr>
          <a:xfrm>
            <a:off x="9601200"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8577072" y="3154680"/>
            <a:ext cx="274320" cy="411480"/>
          </a:xfrm>
          <a:prstGeom prst="downArrow">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394192"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29" name="Rounded Rectangle 28"/>
          <p:cNvSpPr/>
          <p:nvPr/>
        </p:nvSpPr>
        <p:spPr>
          <a:xfrm>
            <a:off x="7891272" y="3840480"/>
            <a:ext cx="1691640" cy="1645920"/>
          </a:xfrm>
          <a:prstGeom prst="roundRect">
            <a:avLst>
              <a:gd name="adj" fmla="val 10000"/>
            </a:avLst>
          </a:prstGeom>
          <a:solidFill>
            <a:srgbClr val="FFFFFF"/>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7C3AED"/>
                </a:solidFill>
                <a:latin typeface="Calibri"/>
              </a:rPr>
              <a:t>inhib. ACT1</a:t>
            </a:r>
          </a:p>
          <a:p>
            <a:pPr algn="ctr">
              <a:spcBef>
                <a:spcPts val="0"/>
              </a:spcBef>
              <a:spcAft>
                <a:spcPts val="100"/>
              </a:spcAft>
            </a:pPr>
            <a:r>
              <a:rPr sz="1000" b="0">
                <a:solidFill>
                  <a:srgbClr val="2C3E50"/>
                </a:solidFill>
                <a:latin typeface="Calibri"/>
              </a:rPr>
              <a:t>(R&amp;D)</a:t>
            </a:r>
          </a:p>
        </p:txBody>
      </p:sp>
      <p:sp>
        <p:nvSpPr>
          <p:cNvPr id="30" name="Rounded Rectangle 29"/>
          <p:cNvSpPr/>
          <p:nvPr/>
        </p:nvSpPr>
        <p:spPr>
          <a:xfrm>
            <a:off x="9784080" y="1645920"/>
            <a:ext cx="1691640" cy="1417320"/>
          </a:xfrm>
          <a:prstGeom prst="roundRect">
            <a:avLst>
              <a:gd name="adj" fmla="val 10000"/>
            </a:avLst>
          </a:prstGeom>
          <a:solidFill>
            <a:srgbClr val="FEF3C7"/>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B45309"/>
                </a:solidFill>
                <a:latin typeface="Calibri"/>
              </a:rPr>
              <a:t>Synergie</a:t>
            </a:r>
          </a:p>
          <a:p>
            <a:pPr algn="ctr">
              <a:spcBef>
                <a:spcPts val="0"/>
              </a:spcBef>
              <a:spcAft>
                <a:spcPts val="100"/>
              </a:spcAft>
            </a:pPr>
            <a:r>
              <a:rPr sz="1100" b="0">
                <a:solidFill>
                  <a:srgbClr val="2C3E50"/>
                </a:solidFill>
                <a:latin typeface="Calibri"/>
              </a:rPr>
              <a:t>TNF / IL-1β</a:t>
            </a:r>
          </a:p>
        </p:txBody>
      </p:sp>
      <p:sp>
        <p:nvSpPr>
          <p:cNvPr id="31" name="Down Arrow 30"/>
          <p:cNvSpPr/>
          <p:nvPr/>
        </p:nvSpPr>
        <p:spPr>
          <a:xfrm>
            <a:off x="10469880" y="3154680"/>
            <a:ext cx="274320" cy="411480"/>
          </a:xfrm>
          <a:prstGeom prst="downArrow">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287000"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33" name="Rounded Rectangle 32"/>
          <p:cNvSpPr/>
          <p:nvPr/>
        </p:nvSpPr>
        <p:spPr>
          <a:xfrm>
            <a:off x="9784080" y="3840480"/>
            <a:ext cx="1691640" cy="1645920"/>
          </a:xfrm>
          <a:prstGeom prst="roundRect">
            <a:avLst>
              <a:gd name="adj" fmla="val 10000"/>
            </a:avLst>
          </a:prstGeom>
          <a:solidFill>
            <a:srgbClr val="FFFFFF"/>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B45309"/>
                </a:solidFill>
                <a:latin typeface="Calibri"/>
              </a:rPr>
              <a:t>combos</a:t>
            </a:r>
          </a:p>
          <a:p>
            <a:pPr algn="ctr">
              <a:spcBef>
                <a:spcPts val="0"/>
              </a:spcBef>
              <a:spcAft>
                <a:spcPts val="100"/>
              </a:spcAft>
            </a:pPr>
            <a:r>
              <a:rPr sz="1000" b="0">
                <a:solidFill>
                  <a:srgbClr val="2C3E50"/>
                </a:solidFill>
                <a:latin typeface="Calibri"/>
              </a:rPr>
              <a:t>bispecifics</a:t>
            </a:r>
          </a:p>
        </p:txBody>
      </p:sp>
      <p:sp>
        <p:nvSpPr>
          <p:cNvPr id="34" name="Rounded Rectangle 33"/>
          <p:cNvSpPr/>
          <p:nvPr/>
        </p:nvSpPr>
        <p:spPr>
          <a:xfrm>
            <a:off x="4160520" y="1417320"/>
            <a:ext cx="3840480" cy="164592"/>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FFFFFF"/>
                </a:solidFill>
                <a:latin typeface="Calibri"/>
              </a:rPr>
              <a:t>IL-17 / IL-17R — nœud thérapeutique central</a:t>
            </a:r>
          </a:p>
        </p:txBody>
      </p:sp>
      <p:sp>
        <p:nvSpPr>
          <p:cNvPr id="35" name="Rounded Rectangle 34"/>
          <p:cNvSpPr/>
          <p:nvPr/>
        </p:nvSpPr>
        <p:spPr>
          <a:xfrm>
            <a:off x="320040" y="5715000"/>
            <a:ext cx="11521440" cy="640080"/>
          </a:xfrm>
          <a:prstGeom prst="roundRect">
            <a:avLst>
              <a:gd name="adj" fmla="val 8000"/>
            </a:avLst>
          </a:prstGeom>
          <a:solidFill>
            <a:srgbClr val="ECFCC8"/>
          </a:solidFill>
          <a:ln w="14604">
            <a:solidFill>
              <a:srgbClr val="4D7C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0">
                <a:solidFill>
                  <a:srgbClr val="2C3E50"/>
                </a:solidFill>
                <a:latin typeface="Calibri"/>
              </a:rPr>
              <a:t>* approches indirectes / conceptuelles — interactions cellulaires (pdpn, CD74) = niveau émergent</a:t>
            </a:r>
          </a:p>
          <a:p>
            <a:pPr algn="ctr">
              <a:spcBef>
                <a:spcPts val="0"/>
              </a:spcBef>
              <a:spcAft>
                <a:spcPts val="100"/>
              </a:spcAft>
            </a:pPr>
            <a:r>
              <a:rPr sz="1000" b="1">
                <a:solidFill>
                  <a:srgbClr val="4D7C0F"/>
                </a:solidFill>
                <a:latin typeface="Calibri"/>
              </a:rPr>
              <a:t>podoplanine / CD74 tronqué · dual IL-17+TNF · ACT1</a:t>
            </a:r>
          </a:p>
        </p:txBody>
      </p:sp>
      <p:sp>
        <p:nvSpPr>
          <p:cNvPr id="36" name="TextBox 35"/>
          <p:cNvSpPr txBox="1"/>
          <p:nvPr/>
        </p:nvSpPr>
        <p:spPr>
          <a:xfrm>
            <a:off x="274320" y="6537960"/>
            <a:ext cx="11612880" cy="201168"/>
          </a:xfrm>
          <a:prstGeom prst="rect">
            <a:avLst/>
          </a:prstGeom>
          <a:noFill/>
        </p:spPr>
        <p:txBody>
          <a:bodyPr wrap="square">
            <a:spAutoFit/>
          </a:bodyPr>
          <a:lstStyle/>
          <a:p>
            <a:pPr algn="ctr"/>
            <a:r>
              <a:rPr sz="800" b="0">
                <a:solidFill>
                  <a:srgbClr val="5D6D7E"/>
                </a:solidFill>
                <a:latin typeface="Calibri"/>
              </a:rPr>
              <a:t>D’après Noack &amp; Miossec — stratégies actuelles et futures ciblant l’IL-17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1612880" cy="310896"/>
          </a:xfrm>
          <a:prstGeom prst="rect">
            <a:avLst/>
          </a:prstGeom>
          <a:noFill/>
        </p:spPr>
        <p:txBody>
          <a:bodyPr wrap="square">
            <a:spAutoFit/>
          </a:bodyPr>
          <a:lstStyle/>
          <a:p>
            <a:pPr algn="ctr"/>
            <a:r>
              <a:rPr sz="1800" b="1">
                <a:solidFill>
                  <a:srgbClr val="2C3E50"/>
                </a:solidFill>
                <a:latin typeface="Calibri"/>
              </a:rPr>
              <a:t>Intervention map on the IL-17 cascade</a:t>
            </a:r>
          </a:p>
        </p:txBody>
      </p:sp>
      <p:sp>
        <p:nvSpPr>
          <p:cNvPr id="4" name="TextBox 3"/>
          <p:cNvSpPr txBox="1"/>
          <p:nvPr/>
        </p:nvSpPr>
        <p:spPr>
          <a:xfrm>
            <a:off x="274320" y="384048"/>
            <a:ext cx="11612880" cy="219456"/>
          </a:xfrm>
          <a:prstGeom prst="rect">
            <a:avLst/>
          </a:prstGeom>
          <a:noFill/>
        </p:spPr>
        <p:txBody>
          <a:bodyPr wrap="square">
            <a:spAutoFit/>
          </a:bodyPr>
          <a:lstStyle/>
          <a:p>
            <a:pPr algn="ctr"/>
            <a:r>
              <a:rPr sz="1100" b="0">
                <a:solidFill>
                  <a:srgbClr val="5D6D7E"/>
                </a:solidFill>
                <a:latin typeface="Calibri"/>
              </a:rPr>
              <a:t>From microbiota / DC to ACT1 signaling — where therapies act</a:t>
            </a:r>
          </a:p>
        </p:txBody>
      </p:sp>
      <p:sp>
        <p:nvSpPr>
          <p:cNvPr id="5" name="Rounded Rectangle 4"/>
          <p:cNvSpPr/>
          <p:nvPr/>
        </p:nvSpPr>
        <p:spPr>
          <a:xfrm>
            <a:off x="320040" y="1645920"/>
            <a:ext cx="1691640" cy="1417320"/>
          </a:xfrm>
          <a:prstGeom prst="roundRect">
            <a:avLst>
              <a:gd name="adj" fmla="val 10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0D9488"/>
                </a:solidFill>
                <a:latin typeface="Calibri"/>
              </a:rPr>
              <a:t>Microbiota</a:t>
            </a:r>
          </a:p>
          <a:p>
            <a:pPr algn="ctr">
              <a:spcBef>
                <a:spcPts val="0"/>
              </a:spcBef>
              <a:spcAft>
                <a:spcPts val="100"/>
              </a:spcAft>
            </a:pPr>
            <a:r>
              <a:rPr sz="1100" b="0">
                <a:solidFill>
                  <a:srgbClr val="2C3E50"/>
                </a:solidFill>
                <a:latin typeface="Calibri"/>
              </a:rPr>
              <a:t>DC / macros</a:t>
            </a:r>
          </a:p>
        </p:txBody>
      </p:sp>
      <p:sp>
        <p:nvSpPr>
          <p:cNvPr id="6" name="Right Arrow 5"/>
          <p:cNvSpPr/>
          <p:nvPr/>
        </p:nvSpPr>
        <p:spPr>
          <a:xfrm>
            <a:off x="2029968"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wn Arrow 6"/>
          <p:cNvSpPr/>
          <p:nvPr/>
        </p:nvSpPr>
        <p:spPr>
          <a:xfrm>
            <a:off x="1005840" y="3154680"/>
            <a:ext cx="274320" cy="41148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9" name="Rounded Rectangle 8"/>
          <p:cNvSpPr/>
          <p:nvPr/>
        </p:nvSpPr>
        <p:spPr>
          <a:xfrm>
            <a:off x="320040" y="3840480"/>
            <a:ext cx="1691640" cy="1645920"/>
          </a:xfrm>
          <a:prstGeom prst="roundRect">
            <a:avLst>
              <a:gd name="adj" fmla="val 10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0D9488"/>
                </a:solidFill>
                <a:latin typeface="Calibri"/>
              </a:rPr>
              <a:t>anti–IL-23</a:t>
            </a:r>
          </a:p>
          <a:p>
            <a:pPr algn="ctr">
              <a:spcBef>
                <a:spcPts val="0"/>
              </a:spcBef>
              <a:spcAft>
                <a:spcPts val="100"/>
              </a:spcAft>
            </a:pPr>
            <a:r>
              <a:rPr sz="1000" b="0">
                <a:solidFill>
                  <a:srgbClr val="2C3E50"/>
                </a:solidFill>
                <a:latin typeface="Calibri"/>
              </a:rPr>
              <a:t>JAKi</a:t>
            </a:r>
          </a:p>
          <a:p>
            <a:pPr algn="ctr">
              <a:spcBef>
                <a:spcPts val="0"/>
              </a:spcBef>
              <a:spcAft>
                <a:spcPts val="100"/>
              </a:spcAft>
            </a:pPr>
            <a:r>
              <a:rPr sz="1000" b="0">
                <a:solidFill>
                  <a:srgbClr val="2C3E50"/>
                </a:solidFill>
                <a:latin typeface="Calibri"/>
              </a:rPr>
              <a:t>DC mod.</a:t>
            </a:r>
          </a:p>
        </p:txBody>
      </p:sp>
      <p:sp>
        <p:nvSpPr>
          <p:cNvPr id="10" name="Rounded Rectangle 9"/>
          <p:cNvSpPr/>
          <p:nvPr/>
        </p:nvSpPr>
        <p:spPr>
          <a:xfrm>
            <a:off x="2212848" y="1645920"/>
            <a:ext cx="1691640" cy="1417320"/>
          </a:xfrm>
          <a:prstGeom prst="roundRect">
            <a:avLst>
              <a:gd name="adj" fmla="val 10000"/>
            </a:avLst>
          </a:prstGeom>
          <a:solidFill>
            <a:srgbClr val="E0F5F2"/>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0D9488"/>
                </a:solidFill>
                <a:latin typeface="Calibri"/>
              </a:rPr>
              <a:t>Th17</a:t>
            </a:r>
          </a:p>
          <a:p>
            <a:pPr algn="ctr">
              <a:spcBef>
                <a:spcPts val="0"/>
              </a:spcBef>
              <a:spcAft>
                <a:spcPts val="100"/>
              </a:spcAft>
            </a:pPr>
            <a:r>
              <a:rPr sz="1100" b="0">
                <a:solidFill>
                  <a:srgbClr val="2C3E50"/>
                </a:solidFill>
                <a:latin typeface="Calibri"/>
              </a:rPr>
              <a:t>(RORγt)</a:t>
            </a:r>
          </a:p>
        </p:txBody>
      </p:sp>
      <p:sp>
        <p:nvSpPr>
          <p:cNvPr id="11" name="Right Arrow 10"/>
          <p:cNvSpPr/>
          <p:nvPr/>
        </p:nvSpPr>
        <p:spPr>
          <a:xfrm>
            <a:off x="3922776"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2898648" y="3154680"/>
            <a:ext cx="274320" cy="41148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15768"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14" name="Rounded Rectangle 13"/>
          <p:cNvSpPr/>
          <p:nvPr/>
        </p:nvSpPr>
        <p:spPr>
          <a:xfrm>
            <a:off x="2212848" y="3840480"/>
            <a:ext cx="1691640" cy="1645920"/>
          </a:xfrm>
          <a:prstGeom prst="roundRect">
            <a:avLst>
              <a:gd name="adj" fmla="val 10000"/>
            </a:avLst>
          </a:prstGeom>
          <a:solidFill>
            <a:srgbClr val="FFFFFF"/>
          </a:solidFill>
          <a:ln w="14604">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0D9488"/>
                </a:solidFill>
                <a:latin typeface="Calibri"/>
              </a:rPr>
              <a:t>miRNAs</a:t>
            </a:r>
          </a:p>
          <a:p>
            <a:pPr algn="ctr">
              <a:spcBef>
                <a:spcPts val="0"/>
              </a:spcBef>
              <a:spcAft>
                <a:spcPts val="100"/>
              </a:spcAft>
            </a:pPr>
            <a:r>
              <a:rPr sz="1000" b="0">
                <a:solidFill>
                  <a:srgbClr val="2C3E50"/>
                </a:solidFill>
                <a:latin typeface="Calibri"/>
              </a:rPr>
              <a:t>lncRNAs</a:t>
            </a:r>
          </a:p>
          <a:p>
            <a:pPr algn="ctr">
              <a:spcBef>
                <a:spcPts val="0"/>
              </a:spcBef>
              <a:spcAft>
                <a:spcPts val="100"/>
              </a:spcAft>
            </a:pPr>
            <a:r>
              <a:rPr sz="1000" b="0">
                <a:solidFill>
                  <a:srgbClr val="2C3E50"/>
                </a:solidFill>
                <a:latin typeface="Calibri"/>
              </a:rPr>
              <a:t>Treg/M2*</a:t>
            </a:r>
          </a:p>
        </p:txBody>
      </p:sp>
      <p:sp>
        <p:nvSpPr>
          <p:cNvPr id="15" name="Rounded Rectangle 14"/>
          <p:cNvSpPr/>
          <p:nvPr/>
        </p:nvSpPr>
        <p:spPr>
          <a:xfrm>
            <a:off x="4105656" y="1645920"/>
            <a:ext cx="1691640" cy="1417320"/>
          </a:xfrm>
          <a:prstGeom prst="roundRect">
            <a:avLst>
              <a:gd name="adj" fmla="val 10000"/>
            </a:avLst>
          </a:prstGeom>
          <a:solidFill>
            <a:srgbClr val="FEF3E6"/>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D97216"/>
                </a:solidFill>
                <a:latin typeface="Calibri"/>
              </a:rPr>
              <a:t>IL-17A/F</a:t>
            </a:r>
          </a:p>
        </p:txBody>
      </p:sp>
      <p:sp>
        <p:nvSpPr>
          <p:cNvPr id="16" name="Right Arrow 15"/>
          <p:cNvSpPr/>
          <p:nvPr/>
        </p:nvSpPr>
        <p:spPr>
          <a:xfrm>
            <a:off x="5815584"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4791456" y="3154680"/>
            <a:ext cx="274320" cy="411480"/>
          </a:xfrm>
          <a:prstGeom prst="downArrow">
            <a:avLst/>
          </a:prstGeom>
          <a:solidFill>
            <a:srgbClr val="D97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08576"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19" name="Rounded Rectangle 18"/>
          <p:cNvSpPr/>
          <p:nvPr/>
        </p:nvSpPr>
        <p:spPr>
          <a:xfrm>
            <a:off x="4105656" y="3840480"/>
            <a:ext cx="1691640" cy="1645920"/>
          </a:xfrm>
          <a:prstGeom prst="roundRect">
            <a:avLst>
              <a:gd name="adj" fmla="val 10000"/>
            </a:avLst>
          </a:prstGeom>
          <a:solidFill>
            <a:srgbClr val="FFFFFF"/>
          </a:solidFill>
          <a:ln w="14604">
            <a:solidFill>
              <a:srgbClr val="D972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D97216"/>
                </a:solidFill>
                <a:latin typeface="Calibri"/>
              </a:rPr>
              <a:t>secukinumab</a:t>
            </a:r>
          </a:p>
          <a:p>
            <a:pPr algn="ctr">
              <a:spcBef>
                <a:spcPts val="0"/>
              </a:spcBef>
              <a:spcAft>
                <a:spcPts val="100"/>
              </a:spcAft>
            </a:pPr>
            <a:r>
              <a:rPr sz="1000" b="0">
                <a:solidFill>
                  <a:srgbClr val="2C3E50"/>
                </a:solidFill>
                <a:latin typeface="Calibri"/>
              </a:rPr>
              <a:t>bimekizumab</a:t>
            </a:r>
          </a:p>
        </p:txBody>
      </p:sp>
      <p:sp>
        <p:nvSpPr>
          <p:cNvPr id="20" name="Rounded Rectangle 19"/>
          <p:cNvSpPr/>
          <p:nvPr/>
        </p:nvSpPr>
        <p:spPr>
          <a:xfrm>
            <a:off x="5998464" y="1645920"/>
            <a:ext cx="1691640" cy="1417320"/>
          </a:xfrm>
          <a:prstGeom prst="roundRect">
            <a:avLst>
              <a:gd name="adj" fmla="val 10000"/>
            </a:avLst>
          </a:prstGeom>
          <a:solidFill>
            <a:srgbClr val="E4F0F8"/>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3A7CA5"/>
                </a:solidFill>
                <a:latin typeface="Calibri"/>
              </a:rPr>
              <a:t>IL-17RA/RC</a:t>
            </a:r>
          </a:p>
        </p:txBody>
      </p:sp>
      <p:sp>
        <p:nvSpPr>
          <p:cNvPr id="21" name="Right Arrow 20"/>
          <p:cNvSpPr/>
          <p:nvPr/>
        </p:nvSpPr>
        <p:spPr>
          <a:xfrm>
            <a:off x="7708392"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6684264" y="3154680"/>
            <a:ext cx="274320" cy="411480"/>
          </a:xfrm>
          <a:prstGeom prst="downArrow">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01384"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24" name="Rounded Rectangle 23"/>
          <p:cNvSpPr/>
          <p:nvPr/>
        </p:nvSpPr>
        <p:spPr>
          <a:xfrm>
            <a:off x="5998464" y="3840480"/>
            <a:ext cx="1691640" cy="1645920"/>
          </a:xfrm>
          <a:prstGeom prst="roundRect">
            <a:avLst>
              <a:gd name="adj" fmla="val 10000"/>
            </a:avLst>
          </a:prstGeom>
          <a:solidFill>
            <a:srgbClr val="FFFFFF"/>
          </a:solidFill>
          <a:ln w="14604">
            <a:solidFill>
              <a:srgbClr val="3A7C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3A7CA5"/>
                </a:solidFill>
                <a:latin typeface="Calibri"/>
              </a:rPr>
              <a:t>brodalumab</a:t>
            </a:r>
          </a:p>
          <a:p>
            <a:pPr algn="ctr">
              <a:spcBef>
                <a:spcPts val="0"/>
              </a:spcBef>
              <a:spcAft>
                <a:spcPts val="100"/>
              </a:spcAft>
            </a:pPr>
            <a:r>
              <a:rPr sz="1000" b="0">
                <a:solidFill>
                  <a:srgbClr val="2C3E50"/>
                </a:solidFill>
                <a:latin typeface="Calibri"/>
              </a:rPr>
              <a:t>small mol.</a:t>
            </a:r>
          </a:p>
        </p:txBody>
      </p:sp>
      <p:sp>
        <p:nvSpPr>
          <p:cNvPr id="25" name="Rounded Rectangle 24"/>
          <p:cNvSpPr/>
          <p:nvPr/>
        </p:nvSpPr>
        <p:spPr>
          <a:xfrm>
            <a:off x="7891272" y="1645920"/>
            <a:ext cx="1691640" cy="1417320"/>
          </a:xfrm>
          <a:prstGeom prst="roundRect">
            <a:avLst>
              <a:gd name="adj" fmla="val 10000"/>
            </a:avLst>
          </a:prstGeom>
          <a:solidFill>
            <a:srgbClr val="F1EAFE"/>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7C3AED"/>
                </a:solidFill>
                <a:latin typeface="Calibri"/>
              </a:rPr>
              <a:t>ACT1–TRAF6</a:t>
            </a:r>
          </a:p>
          <a:p>
            <a:pPr algn="ctr">
              <a:spcBef>
                <a:spcPts val="0"/>
              </a:spcBef>
              <a:spcAft>
                <a:spcPts val="100"/>
              </a:spcAft>
            </a:pPr>
            <a:r>
              <a:rPr sz="1100" b="0">
                <a:solidFill>
                  <a:srgbClr val="2C3E50"/>
                </a:solidFill>
                <a:latin typeface="Calibri"/>
              </a:rPr>
              <a:t>NF-κB/MAPK</a:t>
            </a:r>
          </a:p>
        </p:txBody>
      </p:sp>
      <p:sp>
        <p:nvSpPr>
          <p:cNvPr id="26" name="Right Arrow 25"/>
          <p:cNvSpPr/>
          <p:nvPr/>
        </p:nvSpPr>
        <p:spPr>
          <a:xfrm>
            <a:off x="9601200" y="2194560"/>
            <a:ext cx="164592" cy="256032"/>
          </a:xfrm>
          <a:prstGeom prst="rightArrow">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8577072" y="3154680"/>
            <a:ext cx="274320" cy="411480"/>
          </a:xfrm>
          <a:prstGeom prst="downArrow">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394192"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29" name="Rounded Rectangle 28"/>
          <p:cNvSpPr/>
          <p:nvPr/>
        </p:nvSpPr>
        <p:spPr>
          <a:xfrm>
            <a:off x="7891272" y="3840480"/>
            <a:ext cx="1691640" cy="1645920"/>
          </a:xfrm>
          <a:prstGeom prst="roundRect">
            <a:avLst>
              <a:gd name="adj" fmla="val 10000"/>
            </a:avLst>
          </a:prstGeom>
          <a:solidFill>
            <a:srgbClr val="FFFFFF"/>
          </a:solidFill>
          <a:ln w="14604">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7C3AED"/>
                </a:solidFill>
                <a:latin typeface="Calibri"/>
              </a:rPr>
              <a:t>ACT1 inhib.</a:t>
            </a:r>
          </a:p>
          <a:p>
            <a:pPr algn="ctr">
              <a:spcBef>
                <a:spcPts val="0"/>
              </a:spcBef>
              <a:spcAft>
                <a:spcPts val="100"/>
              </a:spcAft>
            </a:pPr>
            <a:r>
              <a:rPr sz="1000" b="0">
                <a:solidFill>
                  <a:srgbClr val="2C3E50"/>
                </a:solidFill>
                <a:latin typeface="Calibri"/>
              </a:rPr>
              <a:t>(R&amp;D)</a:t>
            </a:r>
          </a:p>
        </p:txBody>
      </p:sp>
      <p:sp>
        <p:nvSpPr>
          <p:cNvPr id="30" name="Rounded Rectangle 29"/>
          <p:cNvSpPr/>
          <p:nvPr/>
        </p:nvSpPr>
        <p:spPr>
          <a:xfrm>
            <a:off x="9784080" y="1645920"/>
            <a:ext cx="1691640" cy="1417320"/>
          </a:xfrm>
          <a:prstGeom prst="roundRect">
            <a:avLst>
              <a:gd name="adj" fmla="val 10000"/>
            </a:avLst>
          </a:prstGeom>
          <a:solidFill>
            <a:srgbClr val="FEF3C7"/>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200" b="1">
                <a:solidFill>
                  <a:srgbClr val="B45309"/>
                </a:solidFill>
                <a:latin typeface="Calibri"/>
              </a:rPr>
              <a:t>Synergy</a:t>
            </a:r>
          </a:p>
          <a:p>
            <a:pPr algn="ctr">
              <a:spcBef>
                <a:spcPts val="0"/>
              </a:spcBef>
              <a:spcAft>
                <a:spcPts val="100"/>
              </a:spcAft>
            </a:pPr>
            <a:r>
              <a:rPr sz="1100" b="0">
                <a:solidFill>
                  <a:srgbClr val="2C3E50"/>
                </a:solidFill>
                <a:latin typeface="Calibri"/>
              </a:rPr>
              <a:t>TNF / IL-1β</a:t>
            </a:r>
          </a:p>
        </p:txBody>
      </p:sp>
      <p:sp>
        <p:nvSpPr>
          <p:cNvPr id="31" name="Down Arrow 30"/>
          <p:cNvSpPr/>
          <p:nvPr/>
        </p:nvSpPr>
        <p:spPr>
          <a:xfrm>
            <a:off x="10469880" y="3154680"/>
            <a:ext cx="274320" cy="411480"/>
          </a:xfrm>
          <a:prstGeom prst="downArrow">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287000" y="3611880"/>
            <a:ext cx="640080" cy="128016"/>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000" b="1">
                <a:solidFill>
                  <a:srgbClr val="FFFFFF"/>
                </a:solidFill>
                <a:latin typeface="Calibri"/>
              </a:rPr>
              <a:t>✕</a:t>
            </a:r>
          </a:p>
        </p:txBody>
      </p:sp>
      <p:sp>
        <p:nvSpPr>
          <p:cNvPr id="33" name="Rounded Rectangle 32"/>
          <p:cNvSpPr/>
          <p:nvPr/>
        </p:nvSpPr>
        <p:spPr>
          <a:xfrm>
            <a:off x="9784080" y="3840480"/>
            <a:ext cx="1691640" cy="1645920"/>
          </a:xfrm>
          <a:prstGeom prst="roundRect">
            <a:avLst>
              <a:gd name="adj" fmla="val 10000"/>
            </a:avLst>
          </a:prstGeom>
          <a:solidFill>
            <a:srgbClr val="FFFFFF"/>
          </a:solidFill>
          <a:ln w="14604">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1">
                <a:solidFill>
                  <a:srgbClr val="B45309"/>
                </a:solidFill>
                <a:latin typeface="Calibri"/>
              </a:rPr>
              <a:t>combos</a:t>
            </a:r>
          </a:p>
          <a:p>
            <a:pPr algn="ctr">
              <a:spcBef>
                <a:spcPts val="0"/>
              </a:spcBef>
              <a:spcAft>
                <a:spcPts val="100"/>
              </a:spcAft>
            </a:pPr>
            <a:r>
              <a:rPr sz="1000" b="0">
                <a:solidFill>
                  <a:srgbClr val="2C3E50"/>
                </a:solidFill>
                <a:latin typeface="Calibri"/>
              </a:rPr>
              <a:t>bispecifics</a:t>
            </a:r>
          </a:p>
        </p:txBody>
      </p:sp>
      <p:sp>
        <p:nvSpPr>
          <p:cNvPr id="34" name="Rounded Rectangle 33"/>
          <p:cNvSpPr/>
          <p:nvPr/>
        </p:nvSpPr>
        <p:spPr>
          <a:xfrm>
            <a:off x="4160520" y="1417320"/>
            <a:ext cx="3840480" cy="164592"/>
          </a:xfrm>
          <a:prstGeom prst="roundRect">
            <a:avLst>
              <a:gd name="adj" fmla="val 30000"/>
            </a:avLst>
          </a:prstGeom>
          <a:solidFill>
            <a:srgbClr val="C445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900" b="1">
                <a:solidFill>
                  <a:srgbClr val="FFFFFF"/>
                </a:solidFill>
                <a:latin typeface="Calibri"/>
              </a:rPr>
              <a:t>IL-17 / IL-17R — central therapeutic node</a:t>
            </a:r>
          </a:p>
        </p:txBody>
      </p:sp>
      <p:sp>
        <p:nvSpPr>
          <p:cNvPr id="35" name="Rounded Rectangle 34"/>
          <p:cNvSpPr/>
          <p:nvPr/>
        </p:nvSpPr>
        <p:spPr>
          <a:xfrm>
            <a:off x="320040" y="5715000"/>
            <a:ext cx="11521440" cy="640080"/>
          </a:xfrm>
          <a:prstGeom prst="roundRect">
            <a:avLst>
              <a:gd name="adj" fmla="val 8000"/>
            </a:avLst>
          </a:prstGeom>
          <a:solidFill>
            <a:srgbClr val="ECFCC8"/>
          </a:solidFill>
          <a:ln w="14604">
            <a:solidFill>
              <a:srgbClr val="4D7C0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100"/>
              </a:spcAft>
            </a:pPr>
            <a:r>
              <a:rPr sz="1100" b="0">
                <a:solidFill>
                  <a:srgbClr val="2C3E50"/>
                </a:solidFill>
                <a:latin typeface="Calibri"/>
              </a:rPr>
              <a:t>* indirect / conceptual approaches — cellular contacts (pdpn, CD74) = emerging level</a:t>
            </a:r>
          </a:p>
          <a:p>
            <a:pPr algn="ctr">
              <a:spcBef>
                <a:spcPts val="0"/>
              </a:spcBef>
              <a:spcAft>
                <a:spcPts val="100"/>
              </a:spcAft>
            </a:pPr>
            <a:r>
              <a:rPr sz="1000" b="1">
                <a:solidFill>
                  <a:srgbClr val="4D7C0F"/>
                </a:solidFill>
                <a:latin typeface="Calibri"/>
              </a:rPr>
              <a:t>podoplanin / truncated CD74 · dual IL-17+TNF · ACT1</a:t>
            </a:r>
          </a:p>
        </p:txBody>
      </p:sp>
      <p:sp>
        <p:nvSpPr>
          <p:cNvPr id="36" name="TextBox 35"/>
          <p:cNvSpPr txBox="1"/>
          <p:nvPr/>
        </p:nvSpPr>
        <p:spPr>
          <a:xfrm>
            <a:off x="274320" y="6537960"/>
            <a:ext cx="11612880" cy="201168"/>
          </a:xfrm>
          <a:prstGeom prst="rect">
            <a:avLst/>
          </a:prstGeom>
          <a:noFill/>
        </p:spPr>
        <p:txBody>
          <a:bodyPr wrap="square">
            <a:spAutoFit/>
          </a:bodyPr>
          <a:lstStyle/>
          <a:p>
            <a:pPr algn="ctr"/>
            <a:r>
              <a:rPr sz="800" b="0">
                <a:solidFill>
                  <a:srgbClr val="5D6D7E"/>
                </a:solidFill>
                <a:latin typeface="Calibri"/>
              </a:rPr>
              <a:t>Based on Noack &amp; Miossec — current and future strategies targeting IL-17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r>
              <a:rPr sz="1800" b="1">
                <a:solidFill>
                  <a:srgbClr val="2C3E50"/>
                </a:solidFill>
                <a:latin typeface="Calibri"/>
              </a:rPr>
              <a:t>Légende — Options thérapeutiques sur l’axe IL-17 / IL-17R</a:t>
            </a:r>
          </a:p>
        </p:txBody>
      </p:sp>
      <p:sp>
        <p:nvSpPr>
          <p:cNvPr id="4" name="TextBox 3"/>
          <p:cNvSpPr txBox="1"/>
          <p:nvPr/>
        </p:nvSpPr>
        <p:spPr>
          <a:xfrm>
            <a:off x="548640" y="868680"/>
            <a:ext cx="10972800" cy="5303520"/>
          </a:xfrm>
          <a:prstGeom prst="rect">
            <a:avLst/>
          </a:prstGeom>
          <a:noFill/>
        </p:spPr>
        <p:txBody>
          <a:bodyPr wrap="square">
            <a:spAutoFit/>
          </a:bodyPr>
          <a:lstStyle/>
          <a:p>
            <a:pPr algn="l"/>
            <a:r>
              <a:rPr sz="1400">
                <a:solidFill>
                  <a:srgbClr val="2C3E50"/>
                </a:solidFill>
                <a:latin typeface="Calibri"/>
              </a:rPr>
              <a:t>Cette figure place IL-17 et son récepteur (IL-17RA/IL-17RC) au centre d’une cascade thérapeutique multi-niveaux.
En amont, les anti–IL-23 et les inhibiteurs JAK/STAT réduisent la production d’IL-17 en limitant la différenciation et le maintien des Th17, sans bloquer directement le signal IL-17 (voie JAK-indépendante). Au niveau de la cytokine, secukinumab neutralise l’IL-17A, tandis que bimekizumab bloque IL-17A et IL-17F. Au niveau du récepteur, brodalumab cible IL-17RA.
Plus en aval, le ciblage d’ACT1–TRAF6 et les approches combinées (IL-17 + TNF) visent la signalisation et les synergies pathogènes. Les stratégies émergentes incluent la modulation des interactions cellulaires (podoplanine, CD74 tronqué) et des ARN régulateurs (miARN, lncARN), afin d’affiner l’inhibition tout en préservant mieux les fonctions protectrices de l’IL-17.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